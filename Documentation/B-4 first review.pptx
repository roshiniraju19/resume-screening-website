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iX+CKC4Z/UvdK+f44Lc3yzQJtrY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26AEBF4-87D4-48E0-A5A5-819B1B4C4946}">
  <a:tblStyle styleId="{926AEBF4-87D4-48E0-A5A5-819B1B4C494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b="off" i="off"/>
      <a:tcStyle>
        <a:tcBdr/>
        <a:fill>
          <a:solidFill>
            <a:srgbClr val="D0DEEF"/>
          </a:solidFill>
        </a:fill>
      </a:tcStyle>
    </a:band1H>
    <a:band2H>
      <a:tcTxStyle b="off" i="off"/>
      <a:tcStyle>
        <a:tcBdr/>
      </a:tcStyle>
    </a:band2H>
    <a:band1V>
      <a:tcTxStyle b="off" i="off"/>
      <a:tcStyle>
        <a:tcBdr/>
        <a:fill>
          <a:solidFill>
            <a:srgbClr val="D0DEEF"/>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91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 name="Google Shape;10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1" name="Google Shape;14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 name="Google Shape;17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5"/>
          <p:cNvSpPr>
            <a:spLocks noGrp="1"/>
          </p:cNvSpPr>
          <p:nvPr>
            <p:ph type="pic" idx="2"/>
          </p:nvPr>
        </p:nvSpPr>
        <p:spPr>
          <a:xfrm>
            <a:off x="5183188" y="987425"/>
            <a:ext cx="6172200" cy="4873625"/>
          </a:xfrm>
          <a:prstGeom prst="rect">
            <a:avLst/>
          </a:prstGeom>
          <a:noFill/>
          <a:ln>
            <a:noFill/>
          </a:ln>
        </p:spPr>
      </p:sp>
      <p:sp>
        <p:nvSpPr>
          <p:cNvPr id="68" name="Google Shape;68;p3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836032" y="1426404"/>
            <a:ext cx="9144000" cy="10074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dk1"/>
              </a:buClr>
              <a:buSzPts val="1800"/>
              <a:buFont typeface="Cambria"/>
              <a:buNone/>
            </a:pPr>
            <a:r>
              <a:rPr lang="en-US" sz="1800" b="1">
                <a:latin typeface="Cambria"/>
                <a:ea typeface="Cambria"/>
                <a:cs typeface="Cambria"/>
                <a:sym typeface="Cambria"/>
              </a:rPr>
              <a:t>Academic Year 2023 - 24 </a:t>
            </a:r>
            <a:br>
              <a:rPr lang="en-US" sz="1800" b="1">
                <a:latin typeface="Cambria"/>
                <a:ea typeface="Cambria"/>
                <a:cs typeface="Cambria"/>
                <a:sym typeface="Cambria"/>
              </a:rPr>
            </a:br>
            <a:r>
              <a:rPr lang="en-US" sz="1800" b="1">
                <a:solidFill>
                  <a:srgbClr val="C00000"/>
                </a:solidFill>
                <a:latin typeface="Cambria"/>
                <a:ea typeface="Cambria"/>
                <a:cs typeface="Cambria"/>
                <a:sym typeface="Cambria"/>
              </a:rPr>
              <a:t>S5 MINI PROJECT WORK </a:t>
            </a:r>
            <a:br>
              <a:rPr lang="en-US" sz="1800" b="1">
                <a:solidFill>
                  <a:srgbClr val="C00000"/>
                </a:solidFill>
                <a:latin typeface="Cambria"/>
                <a:ea typeface="Cambria"/>
                <a:cs typeface="Cambria"/>
                <a:sym typeface="Cambria"/>
              </a:rPr>
            </a:br>
            <a:r>
              <a:rPr lang="en-US" sz="1800" b="1">
                <a:latin typeface="Cambria"/>
                <a:ea typeface="Cambria"/>
                <a:cs typeface="Cambria"/>
                <a:sym typeface="Cambria"/>
              </a:rPr>
              <a:t>First Review </a:t>
            </a:r>
            <a:endParaRPr sz="1800" b="1">
              <a:latin typeface="Cambria"/>
              <a:ea typeface="Cambria"/>
              <a:cs typeface="Cambria"/>
              <a:sym typeface="Cambria"/>
            </a:endParaRPr>
          </a:p>
        </p:txBody>
      </p:sp>
      <p:sp>
        <p:nvSpPr>
          <p:cNvPr id="89" name="Google Shape;89;p1"/>
          <p:cNvSpPr txBox="1">
            <a:spLocks noGrp="1"/>
          </p:cNvSpPr>
          <p:nvPr>
            <p:ph type="subTitle" idx="1"/>
          </p:nvPr>
        </p:nvSpPr>
        <p:spPr>
          <a:xfrm>
            <a:off x="1760575" y="2675760"/>
            <a:ext cx="9144000" cy="4818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385623"/>
              </a:buClr>
              <a:buSzPts val="2400"/>
              <a:buNone/>
            </a:pPr>
            <a:r>
              <a:rPr lang="en-US" b="1">
                <a:solidFill>
                  <a:srgbClr val="385623"/>
                </a:solidFill>
                <a:latin typeface="Cambria"/>
                <a:ea typeface="Cambria"/>
                <a:cs typeface="Cambria"/>
                <a:sym typeface="Cambria"/>
              </a:rPr>
              <a:t>PROJECT TITLE</a:t>
            </a:r>
            <a:endParaRPr b="1">
              <a:latin typeface="Cambria"/>
              <a:ea typeface="Cambria"/>
              <a:cs typeface="Cambria"/>
              <a:sym typeface="Cambria"/>
            </a:endParaRPr>
          </a:p>
        </p:txBody>
      </p:sp>
      <p:pic>
        <p:nvPicPr>
          <p:cNvPr id="90" name="Google Shape;90;p1"/>
          <p:cNvPicPr preferRelativeResize="0"/>
          <p:nvPr/>
        </p:nvPicPr>
        <p:blipFill rotWithShape="1">
          <a:blip r:embed="rId3">
            <a:alphaModFix/>
          </a:blip>
          <a:srcRect/>
          <a:stretch/>
        </p:blipFill>
        <p:spPr>
          <a:xfrm>
            <a:off x="2244435" y="0"/>
            <a:ext cx="7675419" cy="1308626"/>
          </a:xfrm>
          <a:prstGeom prst="rect">
            <a:avLst/>
          </a:prstGeom>
          <a:noFill/>
          <a:ln>
            <a:noFill/>
          </a:ln>
        </p:spPr>
      </p:pic>
      <p:sp>
        <p:nvSpPr>
          <p:cNvPr id="91" name="Google Shape;91;p1"/>
          <p:cNvSpPr txBox="1"/>
          <p:nvPr/>
        </p:nvSpPr>
        <p:spPr>
          <a:xfrm>
            <a:off x="180109" y="5153889"/>
            <a:ext cx="5226781" cy="141316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385623"/>
              </a:buClr>
              <a:buSzPts val="2000"/>
              <a:buFont typeface="Arial"/>
              <a:buNone/>
            </a:pPr>
            <a:r>
              <a:rPr lang="en-US" sz="2000" b="1" i="0" u="none" strike="noStrike" cap="none" dirty="0">
                <a:solidFill>
                  <a:srgbClr val="385623"/>
                </a:solidFill>
                <a:latin typeface="Cambria"/>
                <a:ea typeface="Cambria"/>
                <a:cs typeface="Cambria"/>
                <a:sym typeface="Cambria"/>
              </a:rPr>
              <a:t>BATCH MEMBERS</a:t>
            </a:r>
            <a:endParaRPr lang="en-IN" sz="2000" b="1" i="0" u="none" strike="noStrike" cap="none" dirty="0">
              <a:solidFill>
                <a:srgbClr val="385623"/>
              </a:solidFill>
              <a:latin typeface="Cambria"/>
              <a:ea typeface="Cambria"/>
              <a:cs typeface="Cambria"/>
              <a:sym typeface="Cambria"/>
            </a:endParaRPr>
          </a:p>
          <a:p>
            <a:pPr marL="0" lvl="0" indent="0" algn="ctr" rtl="0">
              <a:lnSpc>
                <a:spcPct val="90000"/>
              </a:lnSpc>
              <a:spcBef>
                <a:spcPts val="1000"/>
              </a:spcBef>
              <a:spcAft>
                <a:spcPts val="0"/>
              </a:spcAft>
              <a:buClr>
                <a:srgbClr val="7030A0"/>
              </a:buClr>
              <a:buSzPts val="1800"/>
              <a:buFont typeface="Arial"/>
              <a:buNone/>
            </a:pPr>
            <a:r>
              <a:rPr lang="en-IN" sz="1800" b="1" dirty="0">
                <a:solidFill>
                  <a:srgbClr val="7030A0"/>
                </a:solidFill>
                <a:latin typeface="Cambria"/>
                <a:ea typeface="Cambria"/>
                <a:cs typeface="Cambria"/>
                <a:sym typeface="Cambria"/>
              </a:rPr>
              <a:t>ROSHINI R(7376212CB140)</a:t>
            </a:r>
          </a:p>
          <a:p>
            <a:pPr algn="ctr">
              <a:lnSpc>
                <a:spcPct val="90000"/>
              </a:lnSpc>
              <a:spcBef>
                <a:spcPts val="1000"/>
              </a:spcBef>
              <a:buClr>
                <a:srgbClr val="7030A0"/>
              </a:buClr>
              <a:buSzPts val="1800"/>
            </a:pPr>
            <a:r>
              <a:rPr lang="en-IN" sz="1800" b="1" dirty="0">
                <a:solidFill>
                  <a:srgbClr val="7030A0"/>
                </a:solidFill>
                <a:latin typeface="Cambria"/>
                <a:ea typeface="Cambria"/>
                <a:cs typeface="Cambria"/>
                <a:sym typeface="Cambria"/>
              </a:rPr>
              <a:t>AKSHAYA R(7376212CB103)</a:t>
            </a:r>
          </a:p>
          <a:p>
            <a:pPr algn="ctr">
              <a:lnSpc>
                <a:spcPct val="90000"/>
              </a:lnSpc>
              <a:spcBef>
                <a:spcPts val="1000"/>
              </a:spcBef>
              <a:buClr>
                <a:srgbClr val="7030A0"/>
              </a:buClr>
              <a:buSzPts val="1800"/>
            </a:pPr>
            <a:r>
              <a:rPr lang="en-IN" sz="1800" b="1" dirty="0">
                <a:solidFill>
                  <a:srgbClr val="7030A0"/>
                </a:solidFill>
                <a:latin typeface="Cambria"/>
                <a:ea typeface="Cambria"/>
                <a:cs typeface="Cambria"/>
                <a:sym typeface="Cambria"/>
              </a:rPr>
              <a:t>LAKSITA V S(7376212CB127)</a:t>
            </a:r>
          </a:p>
          <a:p>
            <a:pPr marL="0" lvl="0" indent="0" algn="ctr" rtl="0">
              <a:lnSpc>
                <a:spcPct val="90000"/>
              </a:lnSpc>
              <a:spcBef>
                <a:spcPts val="1000"/>
              </a:spcBef>
              <a:spcAft>
                <a:spcPts val="0"/>
              </a:spcAft>
              <a:buClr>
                <a:srgbClr val="7030A0"/>
              </a:buClr>
              <a:buSzPts val="1800"/>
              <a:buFont typeface="Arial"/>
              <a:buNone/>
            </a:pPr>
            <a:endParaRPr lang="en-IN" sz="1800" b="1" dirty="0">
              <a:solidFill>
                <a:srgbClr val="7030A0"/>
              </a:solidFill>
              <a:latin typeface="Cambria"/>
              <a:ea typeface="Cambria"/>
              <a:cs typeface="Cambria"/>
              <a:sym typeface="Cambria"/>
            </a:endParaRPr>
          </a:p>
          <a:p>
            <a:pPr marL="0" marR="0" lvl="0" indent="0" algn="ctr" rtl="0">
              <a:lnSpc>
                <a:spcPct val="90000"/>
              </a:lnSpc>
              <a:spcBef>
                <a:spcPts val="1000"/>
              </a:spcBef>
              <a:spcAft>
                <a:spcPts val="0"/>
              </a:spcAft>
              <a:buClr>
                <a:srgbClr val="7030A0"/>
              </a:buClr>
              <a:buSzPts val="1800"/>
              <a:buFont typeface="Arial"/>
              <a:buNone/>
            </a:pPr>
            <a:endParaRPr sz="1800" b="1" i="0" u="none" strike="noStrike" cap="none" dirty="0">
              <a:solidFill>
                <a:srgbClr val="385623"/>
              </a:solidFill>
              <a:latin typeface="Cambria"/>
              <a:ea typeface="Cambria"/>
              <a:cs typeface="Cambria"/>
              <a:sym typeface="Cambria"/>
            </a:endParaRPr>
          </a:p>
          <a:p>
            <a:pPr marL="0" marR="0" lvl="0" indent="0" algn="ctr" rtl="0">
              <a:lnSpc>
                <a:spcPct val="90000"/>
              </a:lnSpc>
              <a:spcBef>
                <a:spcPts val="1000"/>
              </a:spcBef>
              <a:spcAft>
                <a:spcPts val="0"/>
              </a:spcAft>
              <a:buClr>
                <a:srgbClr val="7030A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ctr" rtl="0">
              <a:lnSpc>
                <a:spcPct val="90000"/>
              </a:lnSpc>
              <a:spcBef>
                <a:spcPts val="1000"/>
              </a:spcBef>
              <a:spcAft>
                <a:spcPts val="0"/>
              </a:spcAft>
              <a:buClr>
                <a:schemeClr val="dk1"/>
              </a:buClr>
              <a:buSzPts val="2400"/>
              <a:buFont typeface="Arial"/>
              <a:buNone/>
            </a:pPr>
            <a:endParaRPr sz="1800" b="1" i="0" u="none" strike="noStrike" cap="none" dirty="0">
              <a:solidFill>
                <a:srgbClr val="7030A0"/>
              </a:solidFill>
              <a:latin typeface="Cambria"/>
              <a:ea typeface="Cambria"/>
              <a:cs typeface="Cambria"/>
              <a:sym typeface="Cambria"/>
            </a:endParaRPr>
          </a:p>
          <a:p>
            <a:pPr marL="0" marR="0" lvl="0" indent="0" algn="ctr" rtl="0">
              <a:lnSpc>
                <a:spcPct val="90000"/>
              </a:lnSpc>
              <a:spcBef>
                <a:spcPts val="1000"/>
              </a:spcBef>
              <a:spcAft>
                <a:spcPts val="0"/>
              </a:spcAft>
              <a:buClr>
                <a:schemeClr val="dk1"/>
              </a:buClr>
              <a:buSzPts val="2400"/>
              <a:buFont typeface="Arial"/>
              <a:buNone/>
            </a:pPr>
            <a:endParaRPr sz="1800" b="1" i="0" u="none" strike="noStrike" cap="none" dirty="0">
              <a:solidFill>
                <a:schemeClr val="dk1"/>
              </a:solidFill>
              <a:latin typeface="Cambria"/>
              <a:ea typeface="Cambria"/>
              <a:cs typeface="Cambria"/>
              <a:sym typeface="Cambria"/>
            </a:endParaRPr>
          </a:p>
        </p:txBody>
      </p:sp>
      <p:sp>
        <p:nvSpPr>
          <p:cNvPr id="92" name="Google Shape;92;p1"/>
          <p:cNvSpPr txBox="1"/>
          <p:nvPr/>
        </p:nvSpPr>
        <p:spPr>
          <a:xfrm>
            <a:off x="6771255" y="5126181"/>
            <a:ext cx="5032817" cy="1440874"/>
          </a:xfrm>
          <a:prstGeom prst="rect">
            <a:avLst/>
          </a:prstGeom>
          <a:noFill/>
          <a:ln>
            <a:noFill/>
          </a:ln>
        </p:spPr>
        <p:txBody>
          <a:bodyPr spcFirstLastPara="1" wrap="square" lIns="91425" tIns="45700" rIns="91425" bIns="45700" anchor="t" anchorCtr="0">
            <a:normAutofit fontScale="92500" lnSpcReduction="20000"/>
          </a:bodyPr>
          <a:lstStyle/>
          <a:p>
            <a:pPr marL="0" marR="0" lvl="0" indent="0" algn="ctr" rtl="0">
              <a:lnSpc>
                <a:spcPct val="90000"/>
              </a:lnSpc>
              <a:spcBef>
                <a:spcPts val="0"/>
              </a:spcBef>
              <a:spcAft>
                <a:spcPts val="0"/>
              </a:spcAft>
              <a:buClr>
                <a:srgbClr val="385623"/>
              </a:buClr>
              <a:buSzPct val="100000"/>
              <a:buFont typeface="Arial"/>
              <a:buNone/>
            </a:pPr>
            <a:r>
              <a:rPr lang="en-US" sz="2000" b="1" i="0" u="none" strike="noStrike" cap="none" dirty="0">
                <a:solidFill>
                  <a:srgbClr val="385623"/>
                </a:solidFill>
                <a:latin typeface="Cambria"/>
                <a:ea typeface="Cambria"/>
                <a:cs typeface="Cambria"/>
                <a:sym typeface="Cambria"/>
              </a:rPr>
              <a:t>GUIDE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7030A0"/>
              </a:buClr>
              <a:buSzPct val="100000"/>
              <a:buFont typeface="Arial"/>
              <a:buNone/>
            </a:pPr>
            <a:r>
              <a:rPr lang="en-US" sz="1800" b="1" dirty="0">
                <a:solidFill>
                  <a:srgbClr val="7030A0"/>
                </a:solidFill>
                <a:latin typeface="Cambria"/>
                <a:ea typeface="Cambria"/>
                <a:cs typeface="Cambria"/>
                <a:sym typeface="Cambria"/>
              </a:rPr>
              <a:t>Dr PRIYA J</a:t>
            </a:r>
            <a:endParaRPr lang="en-IN" sz="1400" b="0" i="0" u="none" strike="noStrike" cap="none" dirty="0">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7030A0"/>
              </a:buClr>
              <a:buSzPct val="100000"/>
              <a:buFont typeface="Arial"/>
              <a:buNone/>
            </a:pPr>
            <a:r>
              <a:rPr lang="en-US" sz="1800" b="1" dirty="0">
                <a:solidFill>
                  <a:srgbClr val="7030A0"/>
                </a:solidFill>
                <a:latin typeface="Cambria"/>
                <a:ea typeface="Cambria"/>
                <a:cs typeface="Cambria"/>
                <a:sym typeface="Cambria"/>
              </a:rPr>
              <a:t>H</a:t>
            </a:r>
            <a:r>
              <a:rPr lang="en-US" sz="1800" b="1" i="0" u="none" strike="noStrike" cap="none" dirty="0">
                <a:solidFill>
                  <a:srgbClr val="7030A0"/>
                </a:solidFill>
                <a:latin typeface="Cambria"/>
                <a:ea typeface="Cambria"/>
                <a:cs typeface="Cambria"/>
                <a:sym typeface="Cambria"/>
              </a:rPr>
              <a:t>ead of the Department</a:t>
            </a:r>
            <a:endParaRPr lang="en-US" sz="1400" b="0" i="0" u="none" strike="noStrike" cap="none" dirty="0">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7030A0"/>
              </a:buClr>
              <a:buSzPct val="100000"/>
              <a:buFont typeface="Arial"/>
              <a:buNone/>
            </a:pPr>
            <a:r>
              <a:rPr lang="en-US" sz="1800" b="1" i="0" u="none" strike="noStrike" cap="none" dirty="0">
                <a:solidFill>
                  <a:srgbClr val="7030A0"/>
                </a:solidFill>
                <a:latin typeface="Cambria"/>
                <a:ea typeface="Cambria"/>
                <a:cs typeface="Cambria"/>
                <a:sym typeface="Cambria"/>
              </a:rPr>
              <a:t>Department of </a:t>
            </a:r>
            <a:r>
              <a:rPr lang="en-US" sz="1800" b="1" i="0" u="none" strike="noStrike" cap="none" dirty="0">
                <a:solidFill>
                  <a:srgbClr val="7030A0"/>
                </a:solidFill>
                <a:latin typeface="Times New Roman"/>
                <a:ea typeface="Times New Roman"/>
                <a:cs typeface="Times New Roman"/>
                <a:sym typeface="Times New Roman"/>
              </a:rPr>
              <a:t>Computer Science And Business Systems</a:t>
            </a:r>
            <a:endParaRPr lang="en-US" sz="1800" b="1" i="0" u="none" strike="noStrike" cap="none" dirty="0">
              <a:solidFill>
                <a:srgbClr val="7030A0"/>
              </a:solidFill>
              <a:latin typeface="Cambria"/>
              <a:ea typeface="Cambria"/>
              <a:cs typeface="Cambria"/>
              <a:sym typeface="Cambria"/>
            </a:endParaRPr>
          </a:p>
          <a:p>
            <a:pPr marL="0" marR="0" lvl="0" indent="0" algn="ctr" rtl="0">
              <a:lnSpc>
                <a:spcPct val="90000"/>
              </a:lnSpc>
              <a:spcBef>
                <a:spcPts val="1000"/>
              </a:spcBef>
              <a:spcAft>
                <a:spcPts val="0"/>
              </a:spcAft>
              <a:buClr>
                <a:schemeClr val="dk1"/>
              </a:buClr>
              <a:buSzPct val="100000"/>
              <a:buFont typeface="Arial"/>
              <a:buNone/>
            </a:pPr>
            <a:endParaRPr sz="2400" b="1" i="0" u="none" strike="noStrike" cap="none" dirty="0">
              <a:solidFill>
                <a:schemeClr val="dk1"/>
              </a:solidFill>
              <a:latin typeface="Cambria"/>
              <a:ea typeface="Cambria"/>
              <a:cs typeface="Cambria"/>
              <a:sym typeface="Cambria"/>
            </a:endParaRPr>
          </a:p>
        </p:txBody>
      </p:sp>
      <p:sp>
        <p:nvSpPr>
          <p:cNvPr id="93" name="Google Shape;93;p1"/>
          <p:cNvSpPr txBox="1"/>
          <p:nvPr/>
        </p:nvSpPr>
        <p:spPr>
          <a:xfrm>
            <a:off x="1836025" y="3589253"/>
            <a:ext cx="89931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latin typeface="Cambria"/>
                <a:ea typeface="Cambria"/>
                <a:cs typeface="Cambria"/>
                <a:sym typeface="Cambria"/>
              </a:rPr>
              <a:t>CAREER CRAFTER – RESUME SCREENING PLATFORM</a:t>
            </a:r>
            <a:endParaRPr sz="2000" b="1" i="0" u="none" strike="noStrike" cap="none" dirty="0">
              <a:solidFill>
                <a:schemeClr val="dk1"/>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838200" y="240435"/>
            <a:ext cx="10515600" cy="270394"/>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2F5496"/>
              </a:buClr>
              <a:buSzPct val="100000"/>
              <a:buFont typeface="Cambria"/>
              <a:buNone/>
            </a:pPr>
            <a:r>
              <a:rPr lang="en-US" sz="3600" b="1">
                <a:solidFill>
                  <a:srgbClr val="2F5496"/>
                </a:solidFill>
                <a:latin typeface="Cambria"/>
                <a:ea typeface="Cambria"/>
                <a:cs typeface="Cambria"/>
                <a:sym typeface="Cambria"/>
              </a:rPr>
              <a:t>LITERATURE SURVEY </a:t>
            </a:r>
            <a:endParaRPr/>
          </a:p>
        </p:txBody>
      </p:sp>
      <p:sp>
        <p:nvSpPr>
          <p:cNvPr id="99" name="Google Shape;99;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a:solidFill>
                  <a:srgbClr val="0070C0"/>
                </a:solidFill>
                <a:latin typeface="Arial"/>
                <a:ea typeface="Arial"/>
                <a:cs typeface="Arial"/>
                <a:sym typeface="Arial"/>
              </a:rPr>
              <a:t>05-08-2023</a:t>
            </a:r>
            <a:endParaRPr sz="1800">
              <a:solidFill>
                <a:srgbClr val="0070C0"/>
              </a:solidFill>
              <a:latin typeface="Arial"/>
              <a:ea typeface="Arial"/>
              <a:cs typeface="Arial"/>
              <a:sym typeface="Arial"/>
            </a:endParaRPr>
          </a:p>
        </p:txBody>
      </p:sp>
      <p:sp>
        <p:nvSpPr>
          <p:cNvPr id="100" name="Google Shape;100;p2"/>
          <p:cNvSpPr txBox="1">
            <a:spLocks noGrp="1"/>
          </p:cNvSpPr>
          <p:nvPr>
            <p:ph type="ftr" idx="11"/>
          </p:nvPr>
        </p:nvSpPr>
        <p:spPr>
          <a:xfrm>
            <a:off x="4246421"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a:solidFill>
                  <a:srgbClr val="0070C0"/>
                </a:solidFill>
                <a:latin typeface="Cambria"/>
                <a:ea typeface="Cambria"/>
                <a:cs typeface="Cambria"/>
                <a:sym typeface="Cambria"/>
              </a:rPr>
              <a:t>FIRST REVIEW PRESENTATION</a:t>
            </a:r>
            <a:endParaRPr/>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a:solidFill>
                  <a:srgbClr val="0070C0"/>
                </a:solidFill>
              </a:rPr>
              <a:t>2</a:t>
            </a:fld>
            <a:endParaRPr sz="1800">
              <a:solidFill>
                <a:srgbClr val="0070C0"/>
              </a:solidFill>
            </a:endParaRPr>
          </a:p>
        </p:txBody>
      </p:sp>
      <p:graphicFrame>
        <p:nvGraphicFramePr>
          <p:cNvPr id="102" name="Google Shape;102;p2"/>
          <p:cNvGraphicFramePr/>
          <p:nvPr>
            <p:extLst>
              <p:ext uri="{D42A27DB-BD31-4B8C-83A1-F6EECF244321}">
                <p14:modId xmlns:p14="http://schemas.microsoft.com/office/powerpoint/2010/main" val="2219733961"/>
              </p:ext>
            </p:extLst>
          </p:nvPr>
        </p:nvGraphicFramePr>
        <p:xfrm>
          <a:off x="582804" y="510829"/>
          <a:ext cx="11113476" cy="5851251"/>
        </p:xfrm>
        <a:graphic>
          <a:graphicData uri="http://schemas.openxmlformats.org/drawingml/2006/table">
            <a:tbl>
              <a:tblPr firstRow="1" bandRow="1">
                <a:noFill/>
                <a:tableStyleId>{926AEBF4-87D4-48E0-A5A5-819B1B4C4946}</a:tableStyleId>
              </a:tblPr>
              <a:tblGrid>
                <a:gridCol w="809049">
                  <a:extLst>
                    <a:ext uri="{9D8B030D-6E8A-4147-A177-3AD203B41FA5}">
                      <a16:colId xmlns:a16="http://schemas.microsoft.com/office/drawing/2014/main" val="20000"/>
                    </a:ext>
                  </a:extLst>
                </a:gridCol>
                <a:gridCol w="4760982">
                  <a:extLst>
                    <a:ext uri="{9D8B030D-6E8A-4147-A177-3AD203B41FA5}">
                      <a16:colId xmlns:a16="http://schemas.microsoft.com/office/drawing/2014/main" val="20001"/>
                    </a:ext>
                  </a:extLst>
                </a:gridCol>
                <a:gridCol w="2765070">
                  <a:extLst>
                    <a:ext uri="{9D8B030D-6E8A-4147-A177-3AD203B41FA5}">
                      <a16:colId xmlns:a16="http://schemas.microsoft.com/office/drawing/2014/main" val="20002"/>
                    </a:ext>
                  </a:extLst>
                </a:gridCol>
                <a:gridCol w="2778375">
                  <a:extLst>
                    <a:ext uri="{9D8B030D-6E8A-4147-A177-3AD203B41FA5}">
                      <a16:colId xmlns:a16="http://schemas.microsoft.com/office/drawing/2014/main" val="20003"/>
                    </a:ext>
                  </a:extLst>
                </a:gridCol>
              </a:tblGrid>
              <a:tr h="1919781">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Cambria"/>
                          <a:ea typeface="Cambria"/>
                          <a:cs typeface="Cambria"/>
                          <a:sym typeface="Cambria"/>
                        </a:rPr>
                        <a:t>Sl.No.</a:t>
                      </a:r>
                      <a:endParaRPr sz="1800" b="1" u="none" strike="noStrike" cap="none">
                        <a:solidFill>
                          <a:schemeClr val="dk1"/>
                        </a:solidFill>
                        <a:latin typeface="Cambria"/>
                        <a:ea typeface="Cambria"/>
                        <a:cs typeface="Cambria"/>
                        <a:sym typeface="Cambria"/>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Cambria"/>
                          <a:ea typeface="Cambria"/>
                          <a:cs typeface="Cambria"/>
                          <a:sym typeface="Cambria"/>
                        </a:rPr>
                        <a:t>Journal Paper Title with Author </a:t>
                      </a:r>
                      <a:endParaRPr sz="1800" b="1" u="none" strike="noStrike" cap="none">
                        <a:solidFill>
                          <a:schemeClr val="dk1"/>
                        </a:solidFill>
                        <a:latin typeface="Cambria"/>
                        <a:ea typeface="Cambria"/>
                        <a:cs typeface="Cambria"/>
                        <a:sym typeface="Cambria"/>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Cambria"/>
                          <a:ea typeface="Cambria"/>
                          <a:cs typeface="Cambria"/>
                          <a:sym typeface="Cambria"/>
                        </a:rPr>
                        <a:t>Works carried out  </a:t>
                      </a:r>
                      <a:endParaRPr sz="1400" u="none" strike="noStrike" cap="none">
                        <a:latin typeface="Cambria"/>
                        <a:ea typeface="Cambria"/>
                        <a:cs typeface="Cambria"/>
                        <a:sym typeface="Cambria"/>
                      </a:endParaRPr>
                    </a:p>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Cambria"/>
                          <a:ea typeface="Cambria"/>
                          <a:cs typeface="Cambria"/>
                          <a:sym typeface="Cambria"/>
                        </a:rPr>
                        <a:t>( with details of Methods/ Materials/ Software/ Algorithms / fabrication / techniques/ components used ) </a:t>
                      </a:r>
                      <a:endParaRPr sz="1800" b="1" u="none" strike="noStrike" cap="none">
                        <a:solidFill>
                          <a:schemeClr val="dk1"/>
                        </a:solidFill>
                        <a:latin typeface="Cambria"/>
                        <a:ea typeface="Cambria"/>
                        <a:cs typeface="Cambria"/>
                        <a:sym typeface="Cambria"/>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Cambria"/>
                          <a:ea typeface="Cambria"/>
                          <a:cs typeface="Cambria"/>
                          <a:sym typeface="Cambria"/>
                        </a:rPr>
                        <a:t>Information gathered relevant to your project</a:t>
                      </a:r>
                      <a:endParaRPr sz="1800" b="1" u="none" strike="noStrike" cap="none">
                        <a:solidFill>
                          <a:schemeClr val="dk1"/>
                        </a:solidFill>
                        <a:latin typeface="Cambria"/>
                        <a:ea typeface="Cambria"/>
                        <a:cs typeface="Cambria"/>
                        <a:sym typeface="Cambria"/>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0"/>
                  </a:ext>
                </a:extLst>
              </a:tr>
              <a:tr h="2007042">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Cambria"/>
                          <a:ea typeface="Cambria"/>
                          <a:cs typeface="Cambria"/>
                          <a:sym typeface="Cambria"/>
                        </a:rPr>
                        <a:t>1</a:t>
                      </a:r>
                      <a:endParaRPr sz="1800" u="none" strike="noStrike" cap="none">
                        <a:solidFill>
                          <a:schemeClr val="dk1"/>
                        </a:solidFill>
                        <a:latin typeface="Cambria"/>
                        <a:ea typeface="Cambria"/>
                        <a:cs typeface="Cambria"/>
                        <a:sym typeface="Cambria"/>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IN" sz="1400" b="0" i="0" u="none" strike="noStrike" cap="none" dirty="0">
                          <a:solidFill>
                            <a:schemeClr val="dk1"/>
                          </a:solidFill>
                          <a:effectLst/>
                          <a:latin typeface="Times New Roman" panose="02020603050405020304" pitchFamily="18" charset="0"/>
                          <a:ea typeface="Cambria" panose="02040503050406030204" pitchFamily="18" charset="0"/>
                          <a:cs typeface="Times New Roman" panose="02020603050405020304" pitchFamily="18" charset="0"/>
                          <a:sym typeface="Arial"/>
                        </a:rPr>
                        <a:t>Amin, Sujit, et al. "Web application for screening resume." </a:t>
                      </a:r>
                      <a:r>
                        <a:rPr lang="en-IN" sz="1400" b="0" i="1" u="none" strike="noStrike" cap="none" dirty="0">
                          <a:solidFill>
                            <a:schemeClr val="dk1"/>
                          </a:solidFill>
                          <a:effectLst/>
                          <a:latin typeface="Times New Roman" panose="02020603050405020304" pitchFamily="18" charset="0"/>
                          <a:ea typeface="Cambria" panose="02040503050406030204" pitchFamily="18" charset="0"/>
                          <a:cs typeface="Times New Roman" panose="02020603050405020304" pitchFamily="18" charset="0"/>
                          <a:sym typeface="Arial"/>
                        </a:rPr>
                        <a:t>2019 International Conference on Nascent Technologies in Engineering (ICNTE)</a:t>
                      </a:r>
                      <a:r>
                        <a:rPr lang="en-IN" sz="1400" b="0" i="0" u="none" strike="noStrike" cap="none" dirty="0">
                          <a:solidFill>
                            <a:schemeClr val="dk1"/>
                          </a:solidFill>
                          <a:effectLst/>
                          <a:latin typeface="Times New Roman" panose="02020603050405020304" pitchFamily="18" charset="0"/>
                          <a:ea typeface="Cambria" panose="02040503050406030204" pitchFamily="18" charset="0"/>
                          <a:cs typeface="Times New Roman" panose="02020603050405020304" pitchFamily="18" charset="0"/>
                          <a:sym typeface="Arial"/>
                        </a:rPr>
                        <a:t>. IEEE, 2019.</a:t>
                      </a:r>
                      <a:endParaRPr sz="1800" u="none" strike="noStrike" cap="none" dirty="0">
                        <a:solidFill>
                          <a:schemeClr val="dk1"/>
                        </a:solidFill>
                        <a:latin typeface="Times New Roman" panose="02020603050405020304" pitchFamily="18" charset="0"/>
                        <a:ea typeface="Cambria" panose="02040503050406030204" pitchFamily="18" charset="0"/>
                        <a:cs typeface="Times New Roman" panose="02020603050405020304" pitchFamily="18" charset="0"/>
                        <a:sym typeface="Cambri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lang="en-US" sz="1200" b="0" i="0" u="none" strike="noStrike" cap="none" dirty="0">
                          <a:solidFill>
                            <a:schemeClr val="dk1"/>
                          </a:solidFill>
                          <a:effectLst/>
                          <a:latin typeface="Times New Roman" panose="02020603050405020304" pitchFamily="18" charset="0"/>
                          <a:ea typeface="Cambria" panose="02040503050406030204" pitchFamily="18" charset="0"/>
                          <a:cs typeface="Times New Roman" panose="02020603050405020304" pitchFamily="18" charset="0"/>
                          <a:sym typeface="Arial"/>
                        </a:rPr>
                        <a:t>The study by Amin, Sujit, et al. presents a web application for screening resumes. The research focuses on the development and implementation of this technology, providing a platform for automated resume screening. The study contributes to the field of recruitment technology by introducing a tool aimed at enhancing the efficiency of the resume screening process.</a:t>
                      </a:r>
                      <a:endParaRPr lang="en-IN" sz="1200" b="0" i="0" u="none" strike="noStrike" cap="none" dirty="0">
                        <a:solidFill>
                          <a:schemeClr val="dk1"/>
                        </a:solidFill>
                        <a:effectLst/>
                        <a:latin typeface="Times New Roman" panose="02020603050405020304" pitchFamily="18" charset="0"/>
                        <a:ea typeface="Cambria" panose="02040503050406030204" pitchFamily="18" charset="0"/>
                        <a:cs typeface="Times New Roman" panose="02020603050405020304" pitchFamily="18" charset="0"/>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en-US" sz="1400" b="0" i="0" u="none" strike="noStrike" cap="none" dirty="0">
                          <a:solidFill>
                            <a:schemeClr val="dk1"/>
                          </a:solidFill>
                          <a:effectLst/>
                          <a:latin typeface="Times New Roman" panose="02020603050405020304" pitchFamily="18" charset="0"/>
                          <a:ea typeface="Cambria" panose="02040503050406030204" pitchFamily="18" charset="0"/>
                          <a:cs typeface="Times New Roman" panose="02020603050405020304" pitchFamily="18" charset="0"/>
                          <a:sym typeface="Arial"/>
                        </a:rPr>
                        <a:t>SCREENING RESUMES IN A PLATFORM</a:t>
                      </a:r>
                      <a:endParaRPr sz="1200" u="none" strike="noStrike" cap="none" dirty="0">
                        <a:latin typeface="Times New Roman" panose="02020603050405020304" pitchFamily="18" charset="0"/>
                        <a:ea typeface="Cambria" panose="02040503050406030204" pitchFamily="18" charset="0"/>
                        <a:cs typeface="Times New Roman" panose="02020603050405020304" pitchFamily="18" charset="0"/>
                        <a:sym typeface="Cambri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1"/>
                  </a:ext>
                </a:extLst>
              </a:tr>
              <a:tr h="1832519">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Cambria"/>
                          <a:ea typeface="Cambria"/>
                          <a:cs typeface="Cambria"/>
                          <a:sym typeface="Cambria"/>
                        </a:rPr>
                        <a:t>2</a:t>
                      </a:r>
                      <a:endParaRPr sz="1800" u="none" strike="noStrike" cap="none">
                        <a:solidFill>
                          <a:schemeClr val="dk1"/>
                        </a:solidFill>
                        <a:latin typeface="Cambria"/>
                        <a:ea typeface="Cambria"/>
                        <a:cs typeface="Cambria"/>
                        <a:sym typeface="Cambria"/>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IN" sz="1400" b="0" i="0" u="none" strike="noStrike" cap="none" dirty="0" err="1">
                          <a:solidFill>
                            <a:schemeClr val="dk1"/>
                          </a:solidFill>
                          <a:effectLst/>
                          <a:latin typeface="Times New Roman" panose="02020603050405020304" pitchFamily="18" charset="0"/>
                          <a:ea typeface="Cambria" panose="02040503050406030204" pitchFamily="18" charset="0"/>
                          <a:cs typeface="Times New Roman" panose="02020603050405020304" pitchFamily="18" charset="0"/>
                          <a:sym typeface="Arial"/>
                        </a:rPr>
                        <a:t>Jivtode</a:t>
                      </a:r>
                      <a:r>
                        <a:rPr lang="en-IN" sz="1400" b="0" i="0" u="none" strike="noStrike" cap="none" dirty="0">
                          <a:solidFill>
                            <a:schemeClr val="dk1"/>
                          </a:solidFill>
                          <a:effectLst/>
                          <a:latin typeface="Times New Roman" panose="02020603050405020304" pitchFamily="18" charset="0"/>
                          <a:ea typeface="Cambria" panose="02040503050406030204" pitchFamily="18" charset="0"/>
                          <a:cs typeface="Times New Roman" panose="02020603050405020304" pitchFamily="18" charset="0"/>
                          <a:sym typeface="Arial"/>
                        </a:rPr>
                        <a:t>, </a:t>
                      </a:r>
                      <a:r>
                        <a:rPr lang="en-IN" sz="1400" b="0" i="0" u="none" strike="noStrike" cap="none" dirty="0" err="1">
                          <a:solidFill>
                            <a:schemeClr val="dk1"/>
                          </a:solidFill>
                          <a:effectLst/>
                          <a:latin typeface="Times New Roman" panose="02020603050405020304" pitchFamily="18" charset="0"/>
                          <a:ea typeface="Cambria" panose="02040503050406030204" pitchFamily="18" charset="0"/>
                          <a:cs typeface="Times New Roman" panose="02020603050405020304" pitchFamily="18" charset="0"/>
                          <a:sym typeface="Arial"/>
                        </a:rPr>
                        <a:t>Alkeshwar</a:t>
                      </a:r>
                      <a:r>
                        <a:rPr lang="en-IN" sz="1400" b="0" i="0" u="none" strike="noStrike" cap="none" dirty="0">
                          <a:solidFill>
                            <a:schemeClr val="dk1"/>
                          </a:solidFill>
                          <a:effectLst/>
                          <a:latin typeface="Times New Roman" panose="02020603050405020304" pitchFamily="18" charset="0"/>
                          <a:ea typeface="Cambria" panose="02040503050406030204" pitchFamily="18" charset="0"/>
                          <a:cs typeface="Times New Roman" panose="02020603050405020304" pitchFamily="18" charset="0"/>
                          <a:sym typeface="Arial"/>
                        </a:rPr>
                        <a:t>, Kisan Jadhav, and Dipali Kandhare. "RESUME ANALYSIS USING MACHINE LEARNING AND NATURAL LANGUAGE PROCESSING."</a:t>
                      </a:r>
                      <a:endParaRPr sz="1800" u="none" strike="noStrike" cap="none" dirty="0">
                        <a:solidFill>
                          <a:schemeClr val="dk1"/>
                        </a:solidFill>
                        <a:latin typeface="Times New Roman" panose="02020603050405020304" pitchFamily="18" charset="0"/>
                        <a:ea typeface="Cambria" panose="02040503050406030204" pitchFamily="18" charset="0"/>
                        <a:cs typeface="Times New Roman" panose="02020603050405020304" pitchFamily="18" charset="0"/>
                        <a:sym typeface="Cambri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200" b="0" i="0" u="none" strike="noStrike" cap="none" dirty="0">
                          <a:solidFill>
                            <a:schemeClr val="dk1"/>
                          </a:solidFill>
                          <a:effectLst/>
                          <a:latin typeface="Times New Roman" panose="02020603050405020304" pitchFamily="18" charset="0"/>
                          <a:ea typeface="Cambria" panose="02040503050406030204" pitchFamily="18" charset="0"/>
                          <a:cs typeface="Times New Roman" panose="02020603050405020304" pitchFamily="18" charset="0"/>
                          <a:sym typeface="Arial"/>
                        </a:rPr>
                        <a:t>The presented article discusses the use of machine learning (ML) and natural language processing (NLP) in resume analysis for efficient recruitment. The literature review highlights various approaches such as resume parsing with NLP, recommendation systems using cosine similarity, and ML-based resume ranking systems.</a:t>
                      </a:r>
                      <a:endParaRPr sz="1200" u="none" strike="noStrike" cap="none" dirty="0">
                        <a:solidFill>
                          <a:schemeClr val="dk1"/>
                        </a:solidFill>
                        <a:latin typeface="Times New Roman" panose="02020603050405020304" pitchFamily="18" charset="0"/>
                        <a:ea typeface="Cambria" panose="02040503050406030204" pitchFamily="18" charset="0"/>
                        <a:cs typeface="Times New Roman" panose="02020603050405020304" pitchFamily="18" charset="0"/>
                        <a:sym typeface="Cambri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r>
                        <a:rPr lang="en-US" sz="1400" b="0" i="0" u="none" strike="noStrike" cap="none" dirty="0">
                          <a:solidFill>
                            <a:schemeClr val="dk1"/>
                          </a:solidFill>
                          <a:effectLst/>
                          <a:latin typeface="Times New Roman" panose="02020603050405020304" pitchFamily="18" charset="0"/>
                          <a:ea typeface="Cambria" panose="02040503050406030204" pitchFamily="18" charset="0"/>
                          <a:cs typeface="Times New Roman" panose="02020603050405020304" pitchFamily="18" charset="0"/>
                          <a:sym typeface="Arial"/>
                        </a:rPr>
                        <a:t>MACHINE LEARNING AND NATURAL LANGUAGE PROCESSING</a:t>
                      </a:r>
                      <a:endParaRPr lang="en-IN" sz="1400" b="0" i="0" u="none" strike="noStrike" cap="none" dirty="0">
                        <a:solidFill>
                          <a:schemeClr val="dk1"/>
                        </a:solidFill>
                        <a:effectLst/>
                        <a:latin typeface="Times New Roman" panose="02020603050405020304" pitchFamily="18" charset="0"/>
                        <a:ea typeface="Cambria" panose="02040503050406030204" pitchFamily="18" charset="0"/>
                        <a:cs typeface="Times New Roman" panose="02020603050405020304" pitchFamily="18" charset="0"/>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4"/>
          <p:cNvSpPr txBox="1">
            <a:spLocks noGrp="1"/>
          </p:cNvSpPr>
          <p:nvPr>
            <p:ph type="body" idx="1"/>
          </p:nvPr>
        </p:nvSpPr>
        <p:spPr>
          <a:xfrm>
            <a:off x="838200" y="944798"/>
            <a:ext cx="10515600" cy="5193300"/>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marL="0" lvl="2" indent="0" algn="just" rtl="0">
              <a:lnSpc>
                <a:spcPct val="90000"/>
              </a:lnSpc>
              <a:spcBef>
                <a:spcPts val="0"/>
              </a:spcBef>
              <a:spcAft>
                <a:spcPts val="0"/>
              </a:spcAft>
              <a:buClr>
                <a:srgbClr val="4466A2"/>
              </a:buClr>
              <a:buSzPts val="2400"/>
              <a:buNone/>
            </a:pPr>
            <a:r>
              <a:rPr lang="en-US" sz="2400" b="1" dirty="0">
                <a:solidFill>
                  <a:srgbClr val="4466A2"/>
                </a:solidFill>
                <a:latin typeface="Times New Roman" panose="02020603050405020304" pitchFamily="18" charset="0"/>
                <a:ea typeface="Cambria"/>
                <a:cs typeface="Times New Roman" panose="02020603050405020304" pitchFamily="18" charset="0"/>
                <a:sym typeface="Cambria"/>
              </a:rPr>
              <a:t>AIM:</a:t>
            </a:r>
            <a:endParaRPr dirty="0">
              <a:latin typeface="Times New Roman" panose="02020603050405020304" pitchFamily="18" charset="0"/>
              <a:ea typeface="Cambria"/>
              <a:cs typeface="Times New Roman" panose="02020603050405020304" pitchFamily="18" charset="0"/>
              <a:sym typeface="Cambria"/>
            </a:endParaRPr>
          </a:p>
          <a:p>
            <a:pPr marL="457200" lvl="0" indent="-355600" algn="just" rtl="0">
              <a:lnSpc>
                <a:spcPct val="90000"/>
              </a:lnSpc>
              <a:spcBef>
                <a:spcPts val="500"/>
              </a:spcBef>
              <a:spcAft>
                <a:spcPts val="0"/>
              </a:spcAft>
              <a:buSzPts val="2000"/>
              <a:buFont typeface="Cambria"/>
              <a:buChar char="•"/>
            </a:pPr>
            <a:r>
              <a:rPr lang="en-US" sz="2000" dirty="0">
                <a:latin typeface="Times New Roman" panose="02020603050405020304" pitchFamily="18" charset="0"/>
                <a:ea typeface="Cambria"/>
                <a:cs typeface="Times New Roman" panose="02020603050405020304" pitchFamily="18" charset="0"/>
                <a:sym typeface="Cambria"/>
              </a:rPr>
              <a:t>To build a website for the recruiters to screen the resume and give proper prediction and suggest some question to be asked.</a:t>
            </a:r>
          </a:p>
          <a:p>
            <a:pPr marL="101600" lvl="0" indent="0" algn="just" rtl="0">
              <a:lnSpc>
                <a:spcPct val="90000"/>
              </a:lnSpc>
              <a:spcBef>
                <a:spcPts val="500"/>
              </a:spcBef>
              <a:spcAft>
                <a:spcPts val="0"/>
              </a:spcAft>
              <a:buSzPts val="2000"/>
              <a:buNone/>
            </a:pPr>
            <a:endParaRPr sz="2000" dirty="0">
              <a:latin typeface="Times New Roman" panose="02020603050405020304" pitchFamily="18" charset="0"/>
              <a:ea typeface="Cambria"/>
              <a:cs typeface="Times New Roman" panose="02020603050405020304" pitchFamily="18" charset="0"/>
              <a:sym typeface="Cambria"/>
            </a:endParaRPr>
          </a:p>
          <a:p>
            <a:pPr marL="0" lvl="2" indent="0" algn="just" rtl="0">
              <a:lnSpc>
                <a:spcPct val="90000"/>
              </a:lnSpc>
              <a:spcBef>
                <a:spcPts val="500"/>
              </a:spcBef>
              <a:spcAft>
                <a:spcPts val="0"/>
              </a:spcAft>
              <a:buClr>
                <a:srgbClr val="2F5597"/>
              </a:buClr>
              <a:buSzPts val="2400"/>
              <a:buNone/>
            </a:pPr>
            <a:r>
              <a:rPr lang="en-US" sz="2400" b="1" dirty="0">
                <a:solidFill>
                  <a:srgbClr val="2F5597"/>
                </a:solidFill>
                <a:latin typeface="Times New Roman" panose="02020603050405020304" pitchFamily="18" charset="0"/>
                <a:ea typeface="Cambria"/>
                <a:cs typeface="Times New Roman" panose="02020603050405020304" pitchFamily="18" charset="0"/>
                <a:sym typeface="Cambria"/>
              </a:rPr>
              <a:t>OBJECTIVES:</a:t>
            </a:r>
            <a:endParaRPr dirty="0">
              <a:latin typeface="Times New Roman" panose="02020603050405020304" pitchFamily="18" charset="0"/>
              <a:ea typeface="Cambria"/>
              <a:cs typeface="Times New Roman" panose="02020603050405020304" pitchFamily="18" charset="0"/>
              <a:sym typeface="Cambria"/>
            </a:endParaRPr>
          </a:p>
          <a:p>
            <a:pPr algn="l">
              <a:lnSpc>
                <a:spcPct val="100000"/>
              </a:lnSpc>
              <a:buFont typeface="Arial" panose="020B0604020202020204" pitchFamily="34" charset="0"/>
              <a:buChar char="•"/>
            </a:pPr>
            <a:r>
              <a:rPr lang="en-US" sz="2000" b="1" i="0" dirty="0">
                <a:solidFill>
                  <a:schemeClr val="tx1"/>
                </a:solidFill>
                <a:effectLst/>
                <a:latin typeface="Times New Roman" panose="02020603050405020304" pitchFamily="18" charset="0"/>
                <a:cs typeface="Times New Roman" panose="02020603050405020304" pitchFamily="18" charset="0"/>
              </a:rPr>
              <a:t>Objective</a:t>
            </a:r>
            <a:r>
              <a:rPr lang="en-US" sz="2000" b="0" i="0" dirty="0">
                <a:solidFill>
                  <a:schemeClr val="tx1"/>
                </a:solidFill>
                <a:effectLst/>
                <a:latin typeface="Times New Roman" panose="02020603050405020304" pitchFamily="18" charset="0"/>
                <a:cs typeface="Times New Roman" panose="02020603050405020304" pitchFamily="18" charset="0"/>
              </a:rPr>
              <a:t>: Streamline resume review for efficient hiring.</a:t>
            </a:r>
          </a:p>
          <a:p>
            <a:pPr algn="l">
              <a:lnSpc>
                <a:spcPct val="100000"/>
              </a:lnSpc>
              <a:buFont typeface="Arial" panose="020B0604020202020204" pitchFamily="34" charset="0"/>
              <a:buChar char="•"/>
            </a:pPr>
            <a:r>
              <a:rPr lang="en-US" sz="2000" b="1" i="0" dirty="0">
                <a:solidFill>
                  <a:schemeClr val="tx1"/>
                </a:solidFill>
                <a:effectLst/>
                <a:latin typeface="Times New Roman" panose="02020603050405020304" pitchFamily="18" charset="0"/>
                <a:cs typeface="Times New Roman" panose="02020603050405020304" pitchFamily="18" charset="0"/>
              </a:rPr>
              <a:t>Automation</a:t>
            </a:r>
            <a:r>
              <a:rPr lang="en-US" sz="2000" b="0" i="0" dirty="0">
                <a:solidFill>
                  <a:schemeClr val="tx1"/>
                </a:solidFill>
                <a:effectLst/>
                <a:latin typeface="Times New Roman" panose="02020603050405020304" pitchFamily="18" charset="0"/>
                <a:cs typeface="Times New Roman" panose="02020603050405020304" pitchFamily="18" charset="0"/>
              </a:rPr>
              <a:t>: Assist recruiters by automating initial resume evaluation.</a:t>
            </a:r>
          </a:p>
          <a:p>
            <a:pPr algn="l">
              <a:lnSpc>
                <a:spcPct val="100000"/>
              </a:lnSpc>
              <a:buFont typeface="Arial" panose="020B0604020202020204" pitchFamily="34" charset="0"/>
              <a:buChar char="•"/>
            </a:pPr>
            <a:r>
              <a:rPr lang="en-US" sz="2000" b="1" i="0" dirty="0">
                <a:solidFill>
                  <a:schemeClr val="tx1"/>
                </a:solidFill>
                <a:effectLst/>
                <a:latin typeface="Times New Roman" panose="02020603050405020304" pitchFamily="18" charset="0"/>
                <a:cs typeface="Times New Roman" panose="02020603050405020304" pitchFamily="18" charset="0"/>
              </a:rPr>
              <a:t>Efficiency</a:t>
            </a:r>
            <a:r>
              <a:rPr lang="en-US" sz="2000" b="0" i="0" dirty="0">
                <a:solidFill>
                  <a:schemeClr val="tx1"/>
                </a:solidFill>
                <a:effectLst/>
                <a:latin typeface="Times New Roman" panose="02020603050405020304" pitchFamily="18" charset="0"/>
                <a:cs typeface="Times New Roman" panose="02020603050405020304" pitchFamily="18" charset="0"/>
              </a:rPr>
              <a:t>: Speed up the review process, handling high volumes.</a:t>
            </a:r>
          </a:p>
          <a:p>
            <a:pPr algn="l">
              <a:lnSpc>
                <a:spcPct val="100000"/>
              </a:lnSpc>
              <a:buFont typeface="Arial" panose="020B0604020202020204" pitchFamily="34" charset="0"/>
              <a:buChar char="•"/>
            </a:pPr>
            <a:r>
              <a:rPr lang="en-US" sz="2000" b="1" i="0" dirty="0">
                <a:solidFill>
                  <a:schemeClr val="tx1"/>
                </a:solidFill>
                <a:effectLst/>
                <a:latin typeface="Times New Roman" panose="02020603050405020304" pitchFamily="18" charset="0"/>
                <a:cs typeface="Times New Roman" panose="02020603050405020304" pitchFamily="18" charset="0"/>
              </a:rPr>
              <a:t>Data Insights</a:t>
            </a:r>
            <a:r>
              <a:rPr lang="en-US" sz="2000" b="0" i="0" dirty="0">
                <a:solidFill>
                  <a:schemeClr val="tx1"/>
                </a:solidFill>
                <a:effectLst/>
                <a:latin typeface="Times New Roman" panose="02020603050405020304" pitchFamily="18" charset="0"/>
                <a:cs typeface="Times New Roman" panose="02020603050405020304" pitchFamily="18" charset="0"/>
              </a:rPr>
              <a:t>: Collect and analyze data for informed hiring decisions.</a:t>
            </a:r>
          </a:p>
          <a:p>
            <a:pPr algn="l">
              <a:lnSpc>
                <a:spcPct val="100000"/>
              </a:lnSpc>
              <a:buFont typeface="Arial" panose="020B0604020202020204" pitchFamily="34" charset="0"/>
              <a:buChar char="•"/>
            </a:pPr>
            <a:r>
              <a:rPr lang="en-US" sz="2000" b="1" i="0" dirty="0">
                <a:solidFill>
                  <a:schemeClr val="tx1"/>
                </a:solidFill>
                <a:effectLst/>
                <a:latin typeface="Times New Roman" panose="02020603050405020304" pitchFamily="18" charset="0"/>
                <a:cs typeface="Times New Roman" panose="02020603050405020304" pitchFamily="18" charset="0"/>
              </a:rPr>
              <a:t>Time Savings</a:t>
            </a:r>
            <a:r>
              <a:rPr lang="en-US" sz="2000" b="0" i="0" dirty="0">
                <a:solidFill>
                  <a:schemeClr val="tx1"/>
                </a:solidFill>
                <a:effectLst/>
                <a:latin typeface="Times New Roman" panose="02020603050405020304" pitchFamily="18" charset="0"/>
                <a:cs typeface="Times New Roman" panose="02020603050405020304" pitchFamily="18" charset="0"/>
              </a:rPr>
              <a:t>: Free up recruiters for higher-value tasks, improving hiring decisions and workforce productivity.</a:t>
            </a:r>
          </a:p>
          <a:p>
            <a:pPr marL="914400" lvl="0" indent="0" algn="just" rtl="0">
              <a:lnSpc>
                <a:spcPct val="90000"/>
              </a:lnSpc>
              <a:spcBef>
                <a:spcPts val="500"/>
              </a:spcBef>
              <a:spcAft>
                <a:spcPts val="0"/>
              </a:spcAft>
              <a:buClr>
                <a:schemeClr val="dk1"/>
              </a:buClr>
              <a:buSzPts val="1100"/>
              <a:buFont typeface="Arial"/>
              <a:buNone/>
            </a:pPr>
            <a:endParaRPr sz="2400" b="1" dirty="0">
              <a:latin typeface="Cambria"/>
              <a:ea typeface="Cambria"/>
              <a:cs typeface="Cambria"/>
              <a:sym typeface="Cambria"/>
            </a:endParaRPr>
          </a:p>
          <a:p>
            <a:pPr marL="914400" lvl="2" indent="0" algn="just" rtl="0">
              <a:lnSpc>
                <a:spcPct val="90000"/>
              </a:lnSpc>
              <a:spcBef>
                <a:spcPts val="500"/>
              </a:spcBef>
              <a:spcAft>
                <a:spcPts val="0"/>
              </a:spcAft>
              <a:buClr>
                <a:srgbClr val="7030A0"/>
              </a:buClr>
              <a:buSzPts val="2400"/>
              <a:buNone/>
            </a:pPr>
            <a:endParaRPr sz="2400" b="1" dirty="0">
              <a:latin typeface="Cambria"/>
              <a:ea typeface="Cambria"/>
              <a:cs typeface="Cambria"/>
              <a:sym typeface="Cambria"/>
            </a:endParaRPr>
          </a:p>
        </p:txBody>
      </p:sp>
      <p:sp>
        <p:nvSpPr>
          <p:cNvPr id="108" name="Google Shape;10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b="1">
                <a:solidFill>
                  <a:srgbClr val="385623"/>
                </a:solidFill>
              </a:rPr>
              <a:t>05-08-2023</a:t>
            </a:r>
            <a:endParaRPr sz="1800" b="1">
              <a:solidFill>
                <a:srgbClr val="385623"/>
              </a:solidFill>
            </a:endParaRPr>
          </a:p>
        </p:txBody>
      </p:sp>
      <p:sp>
        <p:nvSpPr>
          <p:cNvPr id="109" name="Google Shape;10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rgbClr val="385623"/>
                </a:solidFill>
              </a:rPr>
              <a:t>FIRST REVIEW PRESENTATION</a:t>
            </a:r>
            <a:endParaRPr/>
          </a:p>
        </p:txBody>
      </p:sp>
      <p:sp>
        <p:nvSpPr>
          <p:cNvPr id="110" name="Google Shape;11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3</a:t>
            </a:fld>
            <a:endParaRPr sz="1800" b="1">
              <a:solidFill>
                <a:srgbClr val="385623"/>
              </a:solidFill>
            </a:endParaRPr>
          </a:p>
        </p:txBody>
      </p:sp>
      <p:sp>
        <p:nvSpPr>
          <p:cNvPr id="111" name="Google Shape;111;p4"/>
          <p:cNvSpPr txBox="1">
            <a:spLocks noGrp="1"/>
          </p:cNvSpPr>
          <p:nvPr>
            <p:ph type="title"/>
          </p:nvPr>
        </p:nvSpPr>
        <p:spPr>
          <a:xfrm>
            <a:off x="838200" y="240434"/>
            <a:ext cx="10515600" cy="57698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a:solidFill>
                  <a:srgbClr val="2F5496"/>
                </a:solidFill>
                <a:latin typeface="Cambria"/>
                <a:ea typeface="Cambria"/>
                <a:cs typeface="Cambria"/>
                <a:sym typeface="Cambria"/>
              </a:rPr>
              <a:t>AIM &amp; OBJECTIVES OF THE PROJECT </a:t>
            </a:r>
            <a:br>
              <a:rPr lang="en-US" sz="2400" b="1">
                <a:solidFill>
                  <a:srgbClr val="2F5496"/>
                </a:solidFill>
                <a:latin typeface="Cambria"/>
                <a:ea typeface="Cambria"/>
                <a:cs typeface="Cambria"/>
                <a:sym typeface="Cambria"/>
              </a:rPr>
            </a:br>
            <a:r>
              <a:rPr lang="en-US" sz="2400" b="1">
                <a:solidFill>
                  <a:srgbClr val="2F5496"/>
                </a:solidFill>
                <a:latin typeface="Cambria"/>
                <a:ea typeface="Cambria"/>
                <a:cs typeface="Cambria"/>
                <a:sym typeface="Cambria"/>
              </a:rPr>
              <a:t>(Problem Statement)</a:t>
            </a:r>
            <a:endParaRPr sz="2400" b="1">
              <a:solidFill>
                <a:srgbClr val="2F5496"/>
              </a:solidFill>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5"/>
          <p:cNvSpPr txBox="1">
            <a:spLocks noGrp="1"/>
          </p:cNvSpPr>
          <p:nvPr>
            <p:ph type="body" idx="1"/>
          </p:nvPr>
        </p:nvSpPr>
        <p:spPr>
          <a:xfrm>
            <a:off x="838200" y="1077305"/>
            <a:ext cx="10674927" cy="4368901"/>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Promising Scope</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Advancing tech, high demand for efficient hiring, and the need for objectivity make resume screening apps promising.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Efficiency Boost</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Automation saves time and effort, appealing to organizations of all sizes.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User-Friendly Focus</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Intuitive interfaces are crucial for HR, ensuring efficiency.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Rising Demand</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Competitive job market fuels the need for efficient candidate screening.</a:t>
            </a:r>
          </a:p>
          <a:p>
            <a:pPr marL="228600" lvl="0" indent="-101600" algn="l" rtl="0">
              <a:lnSpc>
                <a:spcPct val="90000"/>
              </a:lnSpc>
              <a:spcBef>
                <a:spcPts val="1000"/>
              </a:spcBef>
              <a:spcAft>
                <a:spcPts val="0"/>
              </a:spcAft>
              <a:buClr>
                <a:schemeClr val="dk1"/>
              </a:buClr>
              <a:buSzPts val="2000"/>
              <a:buNone/>
            </a:pPr>
            <a:endParaRPr sz="2000" b="0" i="0" dirty="0">
              <a:latin typeface="Cambria"/>
              <a:ea typeface="Cambria"/>
              <a:cs typeface="Cambria"/>
              <a:sym typeface="Cambria"/>
            </a:endParaRPr>
          </a:p>
          <a:p>
            <a:pPr marL="228600" lvl="0" indent="-101600" algn="l" rtl="0">
              <a:lnSpc>
                <a:spcPct val="90000"/>
              </a:lnSpc>
              <a:spcBef>
                <a:spcPts val="1000"/>
              </a:spcBef>
              <a:spcAft>
                <a:spcPts val="0"/>
              </a:spcAft>
              <a:buClr>
                <a:schemeClr val="dk1"/>
              </a:buClr>
              <a:buSzPts val="2000"/>
              <a:buNone/>
            </a:pPr>
            <a:endParaRPr sz="2000" b="0" i="0" dirty="0">
              <a:latin typeface="Cambria"/>
              <a:ea typeface="Cambria"/>
              <a:cs typeface="Cambria"/>
              <a:sym typeface="Cambria"/>
            </a:endParaRPr>
          </a:p>
        </p:txBody>
      </p:sp>
      <p:sp>
        <p:nvSpPr>
          <p:cNvPr id="117" name="Google Shape;11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b="1">
                <a:solidFill>
                  <a:srgbClr val="385623"/>
                </a:solidFill>
              </a:rPr>
              <a:t>05-08-2023</a:t>
            </a:r>
            <a:endParaRPr sz="1800" b="1">
              <a:solidFill>
                <a:srgbClr val="385623"/>
              </a:solidFill>
            </a:endParaRPr>
          </a:p>
        </p:txBody>
      </p:sp>
      <p:sp>
        <p:nvSpPr>
          <p:cNvPr id="118" name="Google Shape;11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rgbClr val="385623"/>
                </a:solidFill>
              </a:rPr>
              <a:t>FIRST REVIEW PRESENTATION</a:t>
            </a:r>
            <a:endParaRPr/>
          </a:p>
        </p:txBody>
      </p:sp>
      <p:sp>
        <p:nvSpPr>
          <p:cNvPr id="119" name="Google Shape;11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4</a:t>
            </a:fld>
            <a:endParaRPr sz="1800" b="1">
              <a:solidFill>
                <a:srgbClr val="385623"/>
              </a:solidFill>
            </a:endParaRPr>
          </a:p>
        </p:txBody>
      </p:sp>
      <p:sp>
        <p:nvSpPr>
          <p:cNvPr id="120" name="Google Shape;120;p5"/>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a:solidFill>
                  <a:srgbClr val="2F5496"/>
                </a:solidFill>
                <a:latin typeface="Cambria"/>
                <a:ea typeface="Cambria"/>
                <a:cs typeface="Cambria"/>
                <a:sym typeface="Cambria"/>
              </a:rPr>
              <a:t>SCOPE OF THE PROJECT</a:t>
            </a:r>
            <a:endParaRPr sz="2400" b="1">
              <a:solidFill>
                <a:srgbClr val="2F5496"/>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6"/>
          <p:cNvSpPr txBox="1">
            <a:spLocks noGrp="1"/>
          </p:cNvSpPr>
          <p:nvPr>
            <p:ph type="body" idx="1"/>
          </p:nvPr>
        </p:nvSpPr>
        <p:spPr>
          <a:xfrm>
            <a:off x="838199" y="775855"/>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algn="l">
              <a:buFont typeface="+mj-lt"/>
              <a:buAutoNum type="arabicPeriod"/>
            </a:pPr>
            <a:r>
              <a:rPr lang="en-US" sz="2400" b="1" i="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Volume Management:</a:t>
            </a:r>
            <a:r>
              <a:rPr lang="en-US" sz="2400" b="0" i="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Handles the large influx of job applications efficiently.</a:t>
            </a:r>
          </a:p>
          <a:p>
            <a:pPr algn="l">
              <a:buFont typeface="+mj-lt"/>
              <a:buAutoNum type="arabicPeriod"/>
            </a:pPr>
            <a:r>
              <a:rPr lang="en-US" sz="2400" b="1" i="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Time and Resource Savings:</a:t>
            </a:r>
            <a:r>
              <a:rPr lang="en-US" sz="2400" b="0" i="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Automates the review process, saving time and reducing manual effort.</a:t>
            </a:r>
          </a:p>
          <a:p>
            <a:pPr algn="l">
              <a:buFont typeface="+mj-lt"/>
              <a:buAutoNum type="arabicPeriod"/>
            </a:pPr>
            <a:r>
              <a:rPr lang="en-US" sz="2400" b="1" i="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Efficiency:</a:t>
            </a:r>
            <a:r>
              <a:rPr lang="en-US" sz="2400" b="0" i="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Quickly analyzes and filters resumes based on predefined criteria.</a:t>
            </a:r>
          </a:p>
          <a:p>
            <a:pPr algn="l">
              <a:buFont typeface="+mj-lt"/>
              <a:buAutoNum type="arabicPeriod"/>
            </a:pPr>
            <a:r>
              <a:rPr lang="en-US" sz="2400" b="1" i="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Focus on Quality Candidates:</a:t>
            </a:r>
            <a:r>
              <a:rPr lang="en-US" sz="2400" b="0" i="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Identifies and prioritizes high-potential candidates more effectively.</a:t>
            </a:r>
          </a:p>
          <a:p>
            <a:pPr algn="l">
              <a:buFont typeface="+mj-lt"/>
              <a:buAutoNum type="arabicPeriod"/>
            </a:pPr>
            <a:r>
              <a:rPr lang="en-US" sz="2400" b="1" i="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Scalability:</a:t>
            </a:r>
            <a:r>
              <a:rPr lang="en-US" sz="2400" b="0" i="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Adapts to fluctuations in hiring needs without proportional increases in resources.</a:t>
            </a:r>
          </a:p>
          <a:p>
            <a:pPr algn="l">
              <a:buFont typeface="+mj-lt"/>
              <a:buAutoNum type="arabicPeriod"/>
            </a:pPr>
            <a:r>
              <a:rPr lang="en-US" sz="2400" b="1" i="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Data-Driven Decision Making:</a:t>
            </a:r>
            <a:r>
              <a:rPr lang="en-US" sz="2400" b="0" i="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Generates analytics for continuous improvement in the hiring process.</a:t>
            </a:r>
          </a:p>
          <a:p>
            <a:pPr marL="114300" lvl="0" indent="0" algn="l" rtl="0">
              <a:lnSpc>
                <a:spcPct val="90000"/>
              </a:lnSpc>
              <a:spcBef>
                <a:spcPts val="0"/>
              </a:spcBef>
              <a:spcAft>
                <a:spcPts val="0"/>
              </a:spcAft>
              <a:buClr>
                <a:srgbClr val="000000"/>
              </a:buClr>
              <a:buSzPts val="1800"/>
              <a:buNone/>
            </a:pPr>
            <a:endParaRPr dirty="0">
              <a:solidFill>
                <a:srgbClr val="000000"/>
              </a:solidFill>
            </a:endParaRPr>
          </a:p>
        </p:txBody>
      </p:sp>
      <p:sp>
        <p:nvSpPr>
          <p:cNvPr id="126" name="Google Shape;12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b="1">
                <a:solidFill>
                  <a:srgbClr val="385623"/>
                </a:solidFill>
              </a:rPr>
              <a:t>05-08-2023</a:t>
            </a:r>
            <a:endParaRPr sz="1800" b="1">
              <a:solidFill>
                <a:srgbClr val="385623"/>
              </a:solidFill>
            </a:endParaRPr>
          </a:p>
        </p:txBody>
      </p:sp>
      <p:sp>
        <p:nvSpPr>
          <p:cNvPr id="127" name="Google Shape;12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rgbClr val="385623"/>
                </a:solidFill>
              </a:rPr>
              <a:t>FIRST REVIEW PRESENTATION</a:t>
            </a:r>
            <a:endParaRPr/>
          </a:p>
        </p:txBody>
      </p:sp>
      <p:sp>
        <p:nvSpPr>
          <p:cNvPr id="128" name="Google Shape;12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5</a:t>
            </a:fld>
            <a:endParaRPr sz="1800" b="1">
              <a:solidFill>
                <a:srgbClr val="385623"/>
              </a:solidFill>
            </a:endParaRPr>
          </a:p>
        </p:txBody>
      </p:sp>
      <p:sp>
        <p:nvSpPr>
          <p:cNvPr id="129" name="Google Shape;129;p6"/>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a:solidFill>
                  <a:srgbClr val="2F5496"/>
                </a:solidFill>
                <a:latin typeface="Cambria"/>
                <a:ea typeface="Cambria"/>
                <a:cs typeface="Cambria"/>
                <a:sym typeface="Cambria"/>
              </a:rPr>
              <a:t>NEED FOR THE CURRENT STUDY </a:t>
            </a:r>
            <a:endParaRPr sz="2400" b="1">
              <a:solidFill>
                <a:srgbClr val="2F5496"/>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05-08-2023</a:t>
            </a:r>
            <a:endParaRPr/>
          </a:p>
        </p:txBody>
      </p:sp>
      <p:sp>
        <p:nvSpPr>
          <p:cNvPr id="135" name="Google Shape;13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FIRST REVIEW PRESENTATION</a:t>
            </a:r>
            <a:endParaRPr/>
          </a:p>
        </p:txBody>
      </p:sp>
      <p:sp>
        <p:nvSpPr>
          <p:cNvPr id="136" name="Google Shape;13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
        <p:nvSpPr>
          <p:cNvPr id="137" name="Google Shape;137;p9"/>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a:solidFill>
                  <a:srgbClr val="2F5496"/>
                </a:solidFill>
                <a:latin typeface="Cambria"/>
                <a:ea typeface="Cambria"/>
                <a:cs typeface="Cambria"/>
                <a:sym typeface="Cambria"/>
              </a:rPr>
              <a:t>PROPOSED METHODOLOGY ( Flow Chart) </a:t>
            </a:r>
            <a:endParaRPr sz="2400" b="1">
              <a:solidFill>
                <a:srgbClr val="2F5496"/>
              </a:solidFill>
              <a:latin typeface="Cambria"/>
              <a:ea typeface="Cambria"/>
              <a:cs typeface="Cambria"/>
              <a:sym typeface="Cambria"/>
            </a:endParaRPr>
          </a:p>
        </p:txBody>
      </p:sp>
      <p:pic>
        <p:nvPicPr>
          <p:cNvPr id="2" name="Picture 1">
            <a:extLst>
              <a:ext uri="{FF2B5EF4-FFF2-40B4-BE49-F238E27FC236}">
                <a16:creationId xmlns:a16="http://schemas.microsoft.com/office/drawing/2014/main" id="{EC51B976-9AF7-3C72-2AFE-280F2664F547}"/>
              </a:ext>
            </a:extLst>
          </p:cNvPr>
          <p:cNvPicPr>
            <a:picLocks noChangeAspect="1"/>
          </p:cNvPicPr>
          <p:nvPr/>
        </p:nvPicPr>
        <p:blipFill>
          <a:blip r:embed="rId3"/>
          <a:stretch>
            <a:fillRect/>
          </a:stretch>
        </p:blipFill>
        <p:spPr>
          <a:xfrm>
            <a:off x="2522138" y="678873"/>
            <a:ext cx="7295102" cy="559993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05-08-2023</a:t>
            </a:r>
            <a:endParaRPr/>
          </a:p>
        </p:txBody>
      </p:sp>
      <p:sp>
        <p:nvSpPr>
          <p:cNvPr id="144" name="Google Shape;14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FIRST REVIEW PRESENTATION</a:t>
            </a:r>
            <a:endParaRPr/>
          </a:p>
        </p:txBody>
      </p:sp>
      <p:sp>
        <p:nvSpPr>
          <p:cNvPr id="145" name="Google Shape;14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146" name="Google Shape;146;p10"/>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a:solidFill>
                  <a:srgbClr val="2F5496"/>
                </a:solidFill>
                <a:latin typeface="Cambria"/>
                <a:ea typeface="Cambria"/>
                <a:cs typeface="Cambria"/>
                <a:sym typeface="Cambria"/>
              </a:rPr>
              <a:t>PROPOSED METHODOLOGY ( Gantt Chart) </a:t>
            </a:r>
            <a:endParaRPr sz="2400" b="1">
              <a:solidFill>
                <a:srgbClr val="2F5496"/>
              </a:solidFill>
              <a:latin typeface="Cambria"/>
              <a:ea typeface="Cambria"/>
              <a:cs typeface="Cambria"/>
              <a:sym typeface="Cambria"/>
            </a:endParaRPr>
          </a:p>
        </p:txBody>
      </p:sp>
      <p:pic>
        <p:nvPicPr>
          <p:cNvPr id="147" name="Google Shape;147;p10"/>
          <p:cNvPicPr preferRelativeResize="0"/>
          <p:nvPr/>
        </p:nvPicPr>
        <p:blipFill rotWithShape="1">
          <a:blip r:embed="rId3">
            <a:alphaModFix/>
          </a:blip>
          <a:srcRect/>
          <a:stretch/>
        </p:blipFill>
        <p:spPr>
          <a:xfrm>
            <a:off x="1201075" y="1815042"/>
            <a:ext cx="9789850" cy="2537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1"/>
          <p:cNvSpPr txBox="1">
            <a:spLocks noGrp="1"/>
          </p:cNvSpPr>
          <p:nvPr>
            <p:ph type="body" idx="1"/>
          </p:nvPr>
        </p:nvSpPr>
        <p:spPr>
          <a:xfrm>
            <a:off x="838199" y="924447"/>
            <a:ext cx="10674927" cy="5296243"/>
          </a:xfrm>
          <a:prstGeom prst="rect">
            <a:avLst/>
          </a:prstGeom>
          <a:noFill/>
          <a:ln w="9525" cap="flat" cmpd="sng">
            <a:solidFill>
              <a:srgbClr val="980000"/>
            </a:solidFill>
            <a:prstDash val="solid"/>
            <a:round/>
            <a:headEnd type="none" w="sm" len="sm"/>
            <a:tailEnd type="none" w="sm" len="sm"/>
          </a:ln>
        </p:spPr>
        <p:txBody>
          <a:bodyPr spcFirstLastPara="1" wrap="square" lIns="91425" tIns="45700" rIns="91425" bIns="45700" anchor="t" anchorCtr="0">
            <a:noAutofit/>
          </a:bodyPr>
          <a:lstStyle/>
          <a:p>
            <a:pPr marL="457200" lvl="0" indent="0" algn="l" rtl="0">
              <a:lnSpc>
                <a:spcPct val="90000"/>
              </a:lnSpc>
              <a:spcBef>
                <a:spcPts val="0"/>
              </a:spcBef>
              <a:spcAft>
                <a:spcPts val="0"/>
              </a:spcAft>
              <a:buClr>
                <a:schemeClr val="dk1"/>
              </a:buClr>
              <a:buSzPts val="1100"/>
              <a:buFont typeface="Arial"/>
              <a:buNone/>
            </a:pPr>
            <a:endParaRPr lang="en-US" sz="2400" dirty="0">
              <a:solidFill>
                <a:srgbClr val="980000"/>
              </a:solidFill>
              <a:latin typeface="Cambria"/>
              <a:ea typeface="Cambria"/>
              <a:cs typeface="Cambria"/>
              <a:sym typeface="Cambria"/>
            </a:endParaRPr>
          </a:p>
          <a:p>
            <a:pPr marL="457200" lvl="0" indent="0" algn="l" rtl="0">
              <a:lnSpc>
                <a:spcPct val="90000"/>
              </a:lnSpc>
              <a:spcBef>
                <a:spcPts val="0"/>
              </a:spcBef>
              <a:spcAft>
                <a:spcPts val="0"/>
              </a:spcAft>
              <a:buClr>
                <a:schemeClr val="dk1"/>
              </a:buClr>
              <a:buSzPts val="1100"/>
              <a:buFont typeface="Arial"/>
              <a:buNone/>
            </a:pPr>
            <a:r>
              <a:rPr lang="en-US" sz="2400" dirty="0">
                <a:solidFill>
                  <a:srgbClr val="980000"/>
                </a:solidFill>
                <a:latin typeface="Times New Roman" panose="02020603050405020304" pitchFamily="18" charset="0"/>
                <a:ea typeface="Cambria"/>
                <a:cs typeface="Times New Roman" panose="02020603050405020304" pitchFamily="18" charset="0"/>
                <a:sym typeface="Cambria"/>
              </a:rPr>
              <a:t>Data Collection:</a:t>
            </a:r>
            <a:r>
              <a:rPr lang="en-US" sz="2000" dirty="0">
                <a:latin typeface="Times New Roman" panose="02020603050405020304" pitchFamily="18" charset="0"/>
                <a:ea typeface="Cambria"/>
                <a:cs typeface="Times New Roman" panose="02020603050405020304" pitchFamily="18" charset="0"/>
                <a:sym typeface="Cambria"/>
              </a:rPr>
              <a:t> This step involves acquiring data like resumes for predicting the relevant job. This can be collected from resumes submitted.</a:t>
            </a:r>
            <a:endParaRPr sz="2000" dirty="0">
              <a:latin typeface="Times New Roman" panose="02020603050405020304" pitchFamily="18" charset="0"/>
              <a:ea typeface="Cambria"/>
              <a:cs typeface="Times New Roman" panose="02020603050405020304" pitchFamily="18" charset="0"/>
              <a:sym typeface="Cambria"/>
            </a:endParaRPr>
          </a:p>
          <a:p>
            <a:pPr marL="457200" lvl="0" indent="0" algn="l" rtl="0">
              <a:lnSpc>
                <a:spcPct val="90000"/>
              </a:lnSpc>
              <a:spcBef>
                <a:spcPts val="0"/>
              </a:spcBef>
              <a:spcAft>
                <a:spcPts val="0"/>
              </a:spcAft>
              <a:buClr>
                <a:schemeClr val="dk1"/>
              </a:buClr>
              <a:buSzPts val="1100"/>
              <a:buFont typeface="Arial"/>
              <a:buNone/>
            </a:pPr>
            <a:endParaRPr sz="2000" dirty="0">
              <a:latin typeface="Times New Roman" panose="02020603050405020304" pitchFamily="18" charset="0"/>
              <a:ea typeface="Cambria"/>
              <a:cs typeface="Times New Roman" panose="02020603050405020304" pitchFamily="18" charset="0"/>
              <a:sym typeface="Cambria"/>
            </a:endParaRPr>
          </a:p>
          <a:p>
            <a:pPr marL="457200" lvl="0" indent="0" algn="l" rtl="0">
              <a:lnSpc>
                <a:spcPct val="90000"/>
              </a:lnSpc>
              <a:spcBef>
                <a:spcPts val="0"/>
              </a:spcBef>
              <a:spcAft>
                <a:spcPts val="0"/>
              </a:spcAft>
              <a:buClr>
                <a:schemeClr val="dk1"/>
              </a:buClr>
              <a:buSzPts val="1100"/>
              <a:buFont typeface="Arial"/>
              <a:buNone/>
            </a:pPr>
            <a:r>
              <a:rPr lang="en-US" sz="2400" dirty="0">
                <a:solidFill>
                  <a:srgbClr val="980000"/>
                </a:solidFill>
                <a:latin typeface="Times New Roman" panose="02020603050405020304" pitchFamily="18" charset="0"/>
                <a:ea typeface="Cambria"/>
                <a:cs typeface="Times New Roman" panose="02020603050405020304" pitchFamily="18" charset="0"/>
                <a:sym typeface="Cambria"/>
              </a:rPr>
              <a:t>Data Pre-processing:</a:t>
            </a:r>
            <a:r>
              <a:rPr lang="en-US" sz="2000" dirty="0">
                <a:latin typeface="Times New Roman" panose="02020603050405020304" pitchFamily="18" charset="0"/>
                <a:ea typeface="Cambria"/>
                <a:cs typeface="Times New Roman" panose="02020603050405020304" pitchFamily="18" charset="0"/>
                <a:sym typeface="Cambria"/>
              </a:rPr>
              <a:t> These can include data cleaning like removing the duplicates, handle missing values and eliminate </a:t>
            </a:r>
            <a:r>
              <a:rPr lang="en-US" sz="2000" dirty="0" err="1">
                <a:latin typeface="Times New Roman" panose="02020603050405020304" pitchFamily="18" charset="0"/>
                <a:ea typeface="Cambria"/>
                <a:cs typeface="Times New Roman" panose="02020603050405020304" pitchFamily="18" charset="0"/>
                <a:sym typeface="Cambria"/>
              </a:rPr>
              <a:t>stopwords</a:t>
            </a:r>
            <a:r>
              <a:rPr lang="en-US" sz="2000" dirty="0">
                <a:latin typeface="Times New Roman" panose="02020603050405020304" pitchFamily="18" charset="0"/>
                <a:ea typeface="Cambria"/>
                <a:cs typeface="Times New Roman" panose="02020603050405020304" pitchFamily="18" charset="0"/>
                <a:sym typeface="Cambria"/>
              </a:rPr>
              <a:t>.</a:t>
            </a:r>
          </a:p>
          <a:p>
            <a:pPr marL="457200" lvl="0" indent="0" algn="l" rtl="0">
              <a:lnSpc>
                <a:spcPct val="90000"/>
              </a:lnSpc>
              <a:spcBef>
                <a:spcPts val="0"/>
              </a:spcBef>
              <a:spcAft>
                <a:spcPts val="0"/>
              </a:spcAft>
              <a:buClr>
                <a:schemeClr val="dk1"/>
              </a:buClr>
              <a:buSzPts val="1100"/>
              <a:buFont typeface="Arial"/>
              <a:buNone/>
            </a:pPr>
            <a:endParaRPr lang="en-US" sz="2000" dirty="0">
              <a:latin typeface="Times New Roman" panose="02020603050405020304" pitchFamily="18" charset="0"/>
              <a:ea typeface="Cambria"/>
              <a:cs typeface="Times New Roman" panose="02020603050405020304" pitchFamily="18" charset="0"/>
              <a:sym typeface="Cambria"/>
            </a:endParaRPr>
          </a:p>
          <a:p>
            <a:pPr marL="457200" lvl="0" indent="0" algn="l" rtl="0">
              <a:lnSpc>
                <a:spcPct val="90000"/>
              </a:lnSpc>
              <a:spcBef>
                <a:spcPts val="0"/>
              </a:spcBef>
              <a:spcAft>
                <a:spcPts val="0"/>
              </a:spcAft>
              <a:buClr>
                <a:schemeClr val="dk1"/>
              </a:buClr>
              <a:buSzPts val="1100"/>
              <a:buFont typeface="Arial"/>
              <a:buNone/>
            </a:pPr>
            <a:r>
              <a:rPr lang="en-US" sz="2400" dirty="0">
                <a:solidFill>
                  <a:srgbClr val="980000"/>
                </a:solidFill>
                <a:latin typeface="Times New Roman" panose="02020603050405020304" pitchFamily="18" charset="0"/>
                <a:ea typeface="Cambria"/>
                <a:cs typeface="Times New Roman" panose="02020603050405020304" pitchFamily="18" charset="0"/>
                <a:sym typeface="Cambria"/>
              </a:rPr>
              <a:t>Feature Extraction:</a:t>
            </a:r>
            <a:r>
              <a:rPr lang="en-US" sz="2000" dirty="0">
                <a:latin typeface="Times New Roman" panose="02020603050405020304" pitchFamily="18" charset="0"/>
                <a:ea typeface="Cambria"/>
                <a:cs typeface="Times New Roman" panose="02020603050405020304" pitchFamily="18" charset="0"/>
                <a:sym typeface="Cambria"/>
              </a:rPr>
              <a:t> Convert text data into numerical representations using techniques like  TF-IDF(Term Frequency- Inverse Document Frequency) or word embedding etc. </a:t>
            </a:r>
          </a:p>
          <a:p>
            <a:pPr marL="457200" lvl="0" indent="0" algn="l" rtl="0">
              <a:lnSpc>
                <a:spcPct val="90000"/>
              </a:lnSpc>
              <a:spcBef>
                <a:spcPts val="0"/>
              </a:spcBef>
              <a:spcAft>
                <a:spcPts val="0"/>
              </a:spcAft>
              <a:buClr>
                <a:schemeClr val="dk1"/>
              </a:buClr>
              <a:buSzPts val="1100"/>
              <a:buFont typeface="Arial"/>
              <a:buNone/>
            </a:pPr>
            <a:endParaRPr lang="en-US" sz="2000" dirty="0">
              <a:latin typeface="Times New Roman" panose="02020603050405020304" pitchFamily="18" charset="0"/>
              <a:ea typeface="Cambria"/>
              <a:cs typeface="Times New Roman" panose="02020603050405020304" pitchFamily="18" charset="0"/>
              <a:sym typeface="Cambria"/>
            </a:endParaRPr>
          </a:p>
          <a:p>
            <a:pPr marL="457200" lvl="0" indent="0" algn="l" rtl="0">
              <a:lnSpc>
                <a:spcPct val="90000"/>
              </a:lnSpc>
              <a:spcBef>
                <a:spcPts val="0"/>
              </a:spcBef>
              <a:spcAft>
                <a:spcPts val="0"/>
              </a:spcAft>
              <a:buClr>
                <a:schemeClr val="dk1"/>
              </a:buClr>
              <a:buSzPts val="1100"/>
              <a:buFont typeface="Arial"/>
              <a:buNone/>
            </a:pPr>
            <a:r>
              <a:rPr lang="en-US" sz="2400" dirty="0">
                <a:solidFill>
                  <a:srgbClr val="980000"/>
                </a:solidFill>
                <a:latin typeface="Times New Roman" panose="02020603050405020304" pitchFamily="18" charset="0"/>
                <a:ea typeface="Cambria"/>
                <a:cs typeface="Times New Roman" panose="02020603050405020304" pitchFamily="18" charset="0"/>
                <a:sym typeface="Cambria"/>
              </a:rPr>
              <a:t>Tokens Identification:</a:t>
            </a:r>
            <a:r>
              <a:rPr lang="en-US" sz="2000" dirty="0">
                <a:latin typeface="Times New Roman" panose="02020603050405020304" pitchFamily="18" charset="0"/>
                <a:ea typeface="Cambria"/>
                <a:cs typeface="Times New Roman" panose="02020603050405020304" pitchFamily="18" charset="0"/>
                <a:sym typeface="Cambria"/>
              </a:rPr>
              <a:t> Breakdown text into individual words or tokens. For Tokenizing, consider not only in word but all in sentence.</a:t>
            </a:r>
            <a:endParaRPr sz="2000" dirty="0">
              <a:latin typeface="Times New Roman" panose="02020603050405020304" pitchFamily="18" charset="0"/>
              <a:ea typeface="Cambria"/>
              <a:cs typeface="Times New Roman" panose="02020603050405020304" pitchFamily="18" charset="0"/>
              <a:sym typeface="Cambria"/>
            </a:endParaRPr>
          </a:p>
          <a:p>
            <a:pPr marL="457200" lvl="0" indent="0" algn="l" rtl="0">
              <a:lnSpc>
                <a:spcPct val="90000"/>
              </a:lnSpc>
              <a:spcBef>
                <a:spcPts val="0"/>
              </a:spcBef>
              <a:spcAft>
                <a:spcPts val="0"/>
              </a:spcAft>
              <a:buClr>
                <a:schemeClr val="dk1"/>
              </a:buClr>
              <a:buSzPts val="1100"/>
              <a:buFont typeface="Arial"/>
              <a:buNone/>
            </a:pPr>
            <a:endParaRPr sz="2000" dirty="0">
              <a:latin typeface="Times New Roman" panose="02020603050405020304" pitchFamily="18" charset="0"/>
              <a:ea typeface="Cambria"/>
              <a:cs typeface="Times New Roman" panose="02020603050405020304" pitchFamily="18" charset="0"/>
              <a:sym typeface="Cambria"/>
            </a:endParaRPr>
          </a:p>
          <a:p>
            <a:pPr marL="457200" lvl="0" indent="0" algn="l" rtl="0">
              <a:lnSpc>
                <a:spcPct val="90000"/>
              </a:lnSpc>
              <a:spcBef>
                <a:spcPts val="0"/>
              </a:spcBef>
              <a:spcAft>
                <a:spcPts val="0"/>
              </a:spcAft>
              <a:buClr>
                <a:schemeClr val="dk1"/>
              </a:buClr>
              <a:buSzPts val="1100"/>
              <a:buFont typeface="Arial"/>
              <a:buNone/>
            </a:pPr>
            <a:r>
              <a:rPr lang="en-US" sz="2400" dirty="0">
                <a:solidFill>
                  <a:srgbClr val="980000"/>
                </a:solidFill>
                <a:latin typeface="Times New Roman" panose="02020603050405020304" pitchFamily="18" charset="0"/>
                <a:ea typeface="Cambria"/>
                <a:cs typeface="Times New Roman" panose="02020603050405020304" pitchFamily="18" charset="0"/>
                <a:sym typeface="Cambria"/>
              </a:rPr>
              <a:t>Machine Learning Models:</a:t>
            </a:r>
            <a:r>
              <a:rPr lang="en-US" sz="2000" dirty="0">
                <a:latin typeface="Times New Roman" panose="02020603050405020304" pitchFamily="18" charset="0"/>
                <a:ea typeface="Cambria"/>
                <a:cs typeface="Times New Roman" panose="02020603050405020304" pitchFamily="18" charset="0"/>
                <a:sym typeface="Cambria"/>
              </a:rPr>
              <a:t> Different machine learning models can be employed for resume screening.</a:t>
            </a:r>
            <a:endParaRPr sz="2000" dirty="0">
              <a:latin typeface="Times New Roman" panose="02020603050405020304" pitchFamily="18" charset="0"/>
              <a:ea typeface="Cambria"/>
              <a:cs typeface="Times New Roman" panose="02020603050405020304" pitchFamily="18" charset="0"/>
              <a:sym typeface="Cambria"/>
            </a:endParaRPr>
          </a:p>
          <a:p>
            <a:pPr marL="457200" lvl="0" indent="0" algn="l" rtl="0">
              <a:lnSpc>
                <a:spcPct val="90000"/>
              </a:lnSpc>
              <a:spcBef>
                <a:spcPts val="0"/>
              </a:spcBef>
              <a:spcAft>
                <a:spcPts val="0"/>
              </a:spcAft>
              <a:buClr>
                <a:schemeClr val="dk1"/>
              </a:buClr>
              <a:buSzPts val="1100"/>
              <a:buFont typeface="Arial"/>
              <a:buNone/>
            </a:pPr>
            <a:endParaRPr sz="2000" dirty="0">
              <a:latin typeface="Cambria"/>
              <a:ea typeface="Cambria"/>
              <a:cs typeface="Cambria"/>
              <a:sym typeface="Cambria"/>
            </a:endParaRPr>
          </a:p>
          <a:p>
            <a:pPr marL="1143000" lvl="2" indent="-101600" algn="l" rtl="0">
              <a:lnSpc>
                <a:spcPct val="90000"/>
              </a:lnSpc>
              <a:spcBef>
                <a:spcPts val="500"/>
              </a:spcBef>
              <a:spcAft>
                <a:spcPts val="0"/>
              </a:spcAft>
              <a:buClr>
                <a:schemeClr val="dk1"/>
              </a:buClr>
              <a:buSzPts val="2000"/>
              <a:buNone/>
            </a:pPr>
            <a:endParaRPr dirty="0">
              <a:latin typeface="Cambria"/>
              <a:ea typeface="Cambria"/>
              <a:cs typeface="Cambria"/>
              <a:sym typeface="Cambria"/>
            </a:endParaRPr>
          </a:p>
          <a:p>
            <a:pPr marL="228600" lvl="0" indent="-50800" algn="l" rtl="0">
              <a:lnSpc>
                <a:spcPct val="90000"/>
              </a:lnSpc>
              <a:spcBef>
                <a:spcPts val="1000"/>
              </a:spcBef>
              <a:spcAft>
                <a:spcPts val="0"/>
              </a:spcAft>
              <a:buClr>
                <a:schemeClr val="dk1"/>
              </a:buClr>
              <a:buSzPts val="2800"/>
              <a:buNone/>
            </a:pPr>
            <a:endParaRPr sz="2000" dirty="0">
              <a:latin typeface="Cambria"/>
              <a:ea typeface="Cambria"/>
              <a:cs typeface="Cambria"/>
              <a:sym typeface="Cambria"/>
            </a:endParaRPr>
          </a:p>
        </p:txBody>
      </p:sp>
      <p:sp>
        <p:nvSpPr>
          <p:cNvPr id="153" name="Google Shape;15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05-08-2023</a:t>
            </a:r>
            <a:endParaRPr/>
          </a:p>
        </p:txBody>
      </p:sp>
      <p:sp>
        <p:nvSpPr>
          <p:cNvPr id="154" name="Google Shape;15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FIRST REVIEW PRESENTATION</a:t>
            </a:r>
            <a:endParaRPr/>
          </a:p>
        </p:txBody>
      </p:sp>
      <p:sp>
        <p:nvSpPr>
          <p:cNvPr id="155" name="Google Shape;15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156" name="Google Shape;156;p11"/>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a:solidFill>
                  <a:srgbClr val="2F5496"/>
                </a:solidFill>
                <a:latin typeface="Cambria"/>
                <a:ea typeface="Cambria"/>
                <a:cs typeface="Cambria"/>
                <a:sym typeface="Cambria"/>
              </a:rPr>
              <a:t>CHOICE  OF  COMPONENTS  /  MODULES  / METHODS/TECHNIQUES </a:t>
            </a:r>
            <a:br>
              <a:rPr lang="en-US" sz="2400" b="1">
                <a:solidFill>
                  <a:srgbClr val="2F5496"/>
                </a:solidFill>
                <a:latin typeface="Cambria"/>
                <a:ea typeface="Cambria"/>
                <a:cs typeface="Cambria"/>
                <a:sym typeface="Cambria"/>
              </a:rPr>
            </a:br>
            <a:r>
              <a:rPr lang="en-US" sz="2400" b="1">
                <a:solidFill>
                  <a:srgbClr val="2F5496"/>
                </a:solidFill>
                <a:latin typeface="Cambria"/>
                <a:ea typeface="Cambria"/>
                <a:cs typeface="Cambria"/>
                <a:sym typeface="Cambria"/>
              </a:rPr>
              <a:t>EQUIPMENT  USED FOR  PROJECT DEVELOPMENT </a:t>
            </a:r>
            <a:endParaRPr sz="2400" b="1">
              <a:solidFill>
                <a:srgbClr val="2F5496"/>
              </a:solidFill>
              <a:latin typeface="Cambria"/>
              <a:ea typeface="Cambria"/>
              <a:cs typeface="Cambria"/>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3"/>
          <p:cNvSpPr txBox="1">
            <a:spLocks noGrp="1"/>
          </p:cNvSpPr>
          <p:nvPr>
            <p:ph type="body" idx="1"/>
          </p:nvPr>
        </p:nvSpPr>
        <p:spPr>
          <a:xfrm>
            <a:off x="838199" y="775855"/>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marL="0" lvl="0" indent="0" algn="l" rtl="0">
              <a:lnSpc>
                <a:spcPct val="115000"/>
              </a:lnSpc>
              <a:spcBef>
                <a:spcPts val="0"/>
              </a:spcBef>
              <a:spcAft>
                <a:spcPts val="0"/>
              </a:spcAft>
              <a:buClr>
                <a:schemeClr val="dk1"/>
              </a:buClr>
              <a:buSzPts val="1100"/>
              <a:buNone/>
            </a:pPr>
            <a:endParaRPr sz="2000" dirty="0">
              <a:solidFill>
                <a:srgbClr val="980000"/>
              </a:solidFill>
              <a:latin typeface="Cambria"/>
              <a:ea typeface="Cambria"/>
              <a:cs typeface="Cambria"/>
              <a:sym typeface="Cambria"/>
            </a:endParaRPr>
          </a:p>
          <a:p>
            <a:pPr marL="0" lvl="0" indent="0" algn="l" rtl="0">
              <a:lnSpc>
                <a:spcPct val="115000"/>
              </a:lnSpc>
              <a:spcBef>
                <a:spcPts val="0"/>
              </a:spcBef>
              <a:spcAft>
                <a:spcPts val="0"/>
              </a:spcAft>
              <a:buClr>
                <a:schemeClr val="dk1"/>
              </a:buClr>
              <a:buSzPts val="1100"/>
              <a:buNone/>
            </a:pPr>
            <a:r>
              <a:rPr lang="en-US" sz="2400" dirty="0">
                <a:solidFill>
                  <a:srgbClr val="980000"/>
                </a:solidFill>
                <a:latin typeface="Times New Roman" panose="02020603050405020304" pitchFamily="18" charset="0"/>
                <a:ea typeface="Cambria"/>
                <a:cs typeface="Times New Roman" panose="02020603050405020304" pitchFamily="18" charset="0"/>
                <a:sym typeface="Cambria"/>
              </a:rPr>
              <a:t>Validation and Testing:</a:t>
            </a:r>
            <a:r>
              <a:rPr lang="en-US" sz="2000" dirty="0">
                <a:latin typeface="Times New Roman" panose="02020603050405020304" pitchFamily="18" charset="0"/>
                <a:ea typeface="Cambria"/>
                <a:cs typeface="Times New Roman" panose="02020603050405020304" pitchFamily="18" charset="0"/>
                <a:sym typeface="Cambria"/>
              </a:rPr>
              <a:t> The trained model needs to be validated and tested using a separate dataset to assess its performance accurately.</a:t>
            </a:r>
            <a:endParaRPr sz="2000" dirty="0">
              <a:latin typeface="Times New Roman" panose="02020603050405020304" pitchFamily="18" charset="0"/>
              <a:ea typeface="Cambria"/>
              <a:cs typeface="Times New Roman" panose="02020603050405020304" pitchFamily="18" charset="0"/>
              <a:sym typeface="Cambria"/>
            </a:endParaRPr>
          </a:p>
          <a:p>
            <a:pPr marL="0" lvl="0" indent="0" algn="l" rtl="0">
              <a:lnSpc>
                <a:spcPct val="115000"/>
              </a:lnSpc>
              <a:spcBef>
                <a:spcPts val="0"/>
              </a:spcBef>
              <a:spcAft>
                <a:spcPts val="0"/>
              </a:spcAft>
              <a:buClr>
                <a:schemeClr val="dk1"/>
              </a:buClr>
              <a:buSzPts val="1100"/>
              <a:buNone/>
            </a:pPr>
            <a:endParaRPr sz="2000" dirty="0">
              <a:latin typeface="Times New Roman" panose="02020603050405020304" pitchFamily="18" charset="0"/>
              <a:ea typeface="Cambria"/>
              <a:cs typeface="Times New Roman" panose="02020603050405020304" pitchFamily="18" charset="0"/>
              <a:sym typeface="Cambria"/>
            </a:endParaRPr>
          </a:p>
          <a:p>
            <a:pPr marL="0" lvl="0" indent="0" algn="l" rtl="0">
              <a:lnSpc>
                <a:spcPct val="115000"/>
              </a:lnSpc>
              <a:spcBef>
                <a:spcPts val="0"/>
              </a:spcBef>
              <a:spcAft>
                <a:spcPts val="0"/>
              </a:spcAft>
              <a:buClr>
                <a:schemeClr val="dk1"/>
              </a:buClr>
              <a:buSzPts val="1100"/>
              <a:buNone/>
            </a:pPr>
            <a:r>
              <a:rPr lang="en-US" sz="2400" dirty="0">
                <a:solidFill>
                  <a:srgbClr val="980000"/>
                </a:solidFill>
                <a:latin typeface="Times New Roman" panose="02020603050405020304" pitchFamily="18" charset="0"/>
                <a:ea typeface="Cambria"/>
                <a:cs typeface="Times New Roman" panose="02020603050405020304" pitchFamily="18" charset="0"/>
                <a:sym typeface="Cambria"/>
              </a:rPr>
              <a:t>Hardware and Software:</a:t>
            </a:r>
            <a:r>
              <a:rPr lang="en-US" sz="2000" dirty="0">
                <a:latin typeface="Times New Roman" panose="02020603050405020304" pitchFamily="18" charset="0"/>
                <a:ea typeface="Cambria"/>
                <a:cs typeface="Times New Roman" panose="02020603050405020304" pitchFamily="18" charset="0"/>
                <a:sym typeface="Cambria"/>
              </a:rPr>
              <a:t> This project requires a CPU with 4 GB RAM and 20 GB memory storage with dual-core processor and a monitor with a high speed internet.</a:t>
            </a:r>
            <a:endParaRPr sz="2000" dirty="0">
              <a:latin typeface="Times New Roman" panose="02020603050405020304" pitchFamily="18" charset="0"/>
              <a:ea typeface="Cambria"/>
              <a:cs typeface="Times New Roman" panose="02020603050405020304" pitchFamily="18" charset="0"/>
              <a:sym typeface="Cambria"/>
            </a:endParaRPr>
          </a:p>
          <a:p>
            <a:pPr marL="0" lvl="0" indent="0" algn="l" rtl="0">
              <a:lnSpc>
                <a:spcPct val="115000"/>
              </a:lnSpc>
              <a:spcBef>
                <a:spcPts val="0"/>
              </a:spcBef>
              <a:spcAft>
                <a:spcPts val="0"/>
              </a:spcAft>
              <a:buClr>
                <a:schemeClr val="dk1"/>
              </a:buClr>
              <a:buSzPts val="1100"/>
              <a:buNone/>
            </a:pPr>
            <a:endParaRPr sz="2000" dirty="0">
              <a:latin typeface="Cambria"/>
              <a:ea typeface="Cambria"/>
              <a:cs typeface="Cambria"/>
              <a:sym typeface="Cambria"/>
            </a:endParaRPr>
          </a:p>
          <a:p>
            <a:pPr marL="0" lvl="0" indent="0" algn="l" rtl="0">
              <a:lnSpc>
                <a:spcPct val="115000"/>
              </a:lnSpc>
              <a:spcBef>
                <a:spcPts val="0"/>
              </a:spcBef>
              <a:spcAft>
                <a:spcPts val="0"/>
              </a:spcAft>
              <a:buClr>
                <a:schemeClr val="dk1"/>
              </a:buClr>
              <a:buSzPts val="1100"/>
              <a:buFont typeface="Arial"/>
              <a:buNone/>
            </a:pPr>
            <a:endParaRPr sz="2000" dirty="0">
              <a:latin typeface="Cambria"/>
              <a:ea typeface="Cambria"/>
              <a:cs typeface="Cambria"/>
              <a:sym typeface="Cambria"/>
            </a:endParaRPr>
          </a:p>
        </p:txBody>
      </p:sp>
      <p:sp>
        <p:nvSpPr>
          <p:cNvPr id="162" name="Google Shape;16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05-08-2023</a:t>
            </a:r>
            <a:endParaRPr/>
          </a:p>
        </p:txBody>
      </p:sp>
      <p:sp>
        <p:nvSpPr>
          <p:cNvPr id="163" name="Google Shape;16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FIRST REVIEW PRESENTATION</a:t>
            </a:r>
            <a:endParaRPr/>
          </a:p>
        </p:txBody>
      </p:sp>
      <p:sp>
        <p:nvSpPr>
          <p:cNvPr id="164" name="Google Shape;16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165" name="Google Shape;165;p13"/>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a:solidFill>
                  <a:srgbClr val="2F5496"/>
                </a:solidFill>
                <a:latin typeface="Cambria"/>
                <a:ea typeface="Cambria"/>
                <a:cs typeface="Cambria"/>
                <a:sym typeface="Cambria"/>
              </a:rPr>
              <a:t>CHOICE  OF  COMPONENTS  /  MODULES  / METHODS/TECHNIQUES </a:t>
            </a:r>
            <a:br>
              <a:rPr lang="en-US" sz="2400" b="1">
                <a:solidFill>
                  <a:srgbClr val="2F5496"/>
                </a:solidFill>
                <a:latin typeface="Cambria"/>
                <a:ea typeface="Cambria"/>
                <a:cs typeface="Cambria"/>
                <a:sym typeface="Cambria"/>
              </a:rPr>
            </a:br>
            <a:r>
              <a:rPr lang="en-US" sz="2400" b="1">
                <a:solidFill>
                  <a:srgbClr val="2F5496"/>
                </a:solidFill>
                <a:latin typeface="Cambria"/>
                <a:ea typeface="Cambria"/>
                <a:cs typeface="Cambria"/>
                <a:sym typeface="Cambria"/>
              </a:rPr>
              <a:t>EQUIPMENT  USED FOR  PROJECT DEVELOPMENT </a:t>
            </a:r>
            <a:endParaRPr sz="2400" b="1">
              <a:solidFill>
                <a:srgbClr val="2F5496"/>
              </a:solidFill>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4"/>
          <p:cNvSpPr txBox="1">
            <a:spLocks noGrp="1"/>
          </p:cNvSpPr>
          <p:nvPr>
            <p:ph type="body" idx="1"/>
          </p:nvPr>
        </p:nvSpPr>
        <p:spPr>
          <a:xfrm>
            <a:off x="838199" y="775855"/>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marL="0" lvl="0" indent="0" algn="l" rtl="0">
              <a:lnSpc>
                <a:spcPct val="150000"/>
              </a:lnSpc>
              <a:spcBef>
                <a:spcPts val="1000"/>
              </a:spcBef>
              <a:spcAft>
                <a:spcPts val="0"/>
              </a:spcAft>
              <a:buSzPts val="1800"/>
              <a:buNone/>
            </a:pPr>
            <a:r>
              <a:rPr lang="en-US" sz="2400" dirty="0">
                <a:solidFill>
                  <a:srgbClr val="980000"/>
                </a:solidFill>
                <a:latin typeface="Times New Roman" panose="02020603050405020304" pitchFamily="18" charset="0"/>
                <a:ea typeface="Cambria"/>
                <a:cs typeface="Times New Roman" panose="02020603050405020304" pitchFamily="18" charset="0"/>
                <a:sym typeface="Cambria"/>
              </a:rPr>
              <a:t>Hardware Architecture</a:t>
            </a:r>
            <a:endParaRPr sz="2400" dirty="0">
              <a:solidFill>
                <a:srgbClr val="980000"/>
              </a:solidFill>
              <a:latin typeface="Times New Roman" panose="02020603050405020304" pitchFamily="18" charset="0"/>
              <a:ea typeface="Cambria"/>
              <a:cs typeface="Times New Roman" panose="02020603050405020304" pitchFamily="18" charset="0"/>
              <a:sym typeface="Cambria"/>
            </a:endParaRPr>
          </a:p>
          <a:p>
            <a:pPr marL="342900" lvl="0" indent="-342900">
              <a:lnSpc>
                <a:spcPct val="150000"/>
              </a:lnSpc>
              <a:spcBef>
                <a:spcPts val="1200"/>
              </a:spcBef>
              <a:spcAft>
                <a:spcPts val="0"/>
              </a:spcAft>
              <a:buFont typeface="Symbol" panose="05050102010706020507" pitchFamily="18" charset="2"/>
              <a:buChar char=""/>
              <a:tabLst>
                <a:tab pos="739775" algn="l"/>
              </a:tabLst>
            </a:pPr>
            <a:r>
              <a:rPr lang="en-US" sz="2000" b="0" dirty="0">
                <a:effectLst/>
                <a:latin typeface="Times New Roman" panose="02020603050405020304" pitchFamily="18" charset="0"/>
                <a:ea typeface="Times New Roman" panose="02020603050405020304" pitchFamily="18" charset="0"/>
                <a:cs typeface="Times New Roman" panose="02020603050405020304" pitchFamily="18" charset="0"/>
              </a:rPr>
              <a:t>Processor: Dual-core processor or higher</a:t>
            </a:r>
            <a:endPar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Bef>
                <a:spcPts val="1200"/>
              </a:spcBef>
              <a:spcAft>
                <a:spcPts val="0"/>
              </a:spcAft>
              <a:buFont typeface="Symbol" panose="05050102010706020507" pitchFamily="18" charset="2"/>
              <a:buChar char=""/>
              <a:tabLst>
                <a:tab pos="739775" algn="l"/>
              </a:tabLst>
            </a:pPr>
            <a:r>
              <a:rPr lang="en-US" sz="2000" b="0" dirty="0">
                <a:effectLst/>
                <a:latin typeface="Times New Roman" panose="02020603050405020304" pitchFamily="18" charset="0"/>
                <a:ea typeface="Times New Roman" panose="02020603050405020304" pitchFamily="18" charset="0"/>
                <a:cs typeface="Times New Roman" panose="02020603050405020304" pitchFamily="18" charset="0"/>
              </a:rPr>
              <a:t>RAM: 4 GB or more</a:t>
            </a:r>
            <a:endPar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Bef>
                <a:spcPts val="1200"/>
              </a:spcBef>
              <a:spcAft>
                <a:spcPts val="0"/>
              </a:spcAft>
              <a:buFont typeface="Symbol" panose="05050102010706020507" pitchFamily="18" charset="2"/>
              <a:buChar char=""/>
              <a:tabLst>
                <a:tab pos="739775" algn="l"/>
              </a:tabLst>
            </a:pPr>
            <a:r>
              <a:rPr lang="en-US" sz="2000" b="0" dirty="0">
                <a:effectLst/>
                <a:latin typeface="Times New Roman" panose="02020603050405020304" pitchFamily="18" charset="0"/>
                <a:ea typeface="Times New Roman" panose="02020603050405020304" pitchFamily="18" charset="0"/>
                <a:cs typeface="Times New Roman" panose="02020603050405020304" pitchFamily="18" charset="0"/>
              </a:rPr>
              <a:t>Storage: 20 GB free disk space</a:t>
            </a:r>
            <a:endPar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Bef>
                <a:spcPts val="1200"/>
              </a:spcBef>
              <a:spcAft>
                <a:spcPts val="0"/>
              </a:spcAft>
              <a:buFont typeface="Symbol" panose="05050102010706020507" pitchFamily="18" charset="2"/>
              <a:buChar char=""/>
              <a:tabLst>
                <a:tab pos="739775" algn="l"/>
              </a:tabLst>
            </a:pPr>
            <a:r>
              <a:rPr lang="en-US" sz="2000" b="0" dirty="0">
                <a:effectLst/>
                <a:latin typeface="Times New Roman" panose="02020603050405020304" pitchFamily="18" charset="0"/>
                <a:ea typeface="Times New Roman" panose="02020603050405020304" pitchFamily="18" charset="0"/>
                <a:cs typeface="Times New Roman" panose="02020603050405020304" pitchFamily="18" charset="0"/>
              </a:rPr>
              <a:t>Internet Connectivity: Broadband connection for seamless data processing</a:t>
            </a:r>
            <a:endPar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71" name="Google Shape;17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05-08-2023</a:t>
            </a:r>
            <a:endParaRPr/>
          </a:p>
        </p:txBody>
      </p:sp>
      <p:sp>
        <p:nvSpPr>
          <p:cNvPr id="172" name="Google Shape;17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FIRST REVIEW PRESENTATION</a:t>
            </a:r>
            <a:endParaRPr/>
          </a:p>
        </p:txBody>
      </p:sp>
      <p:sp>
        <p:nvSpPr>
          <p:cNvPr id="173" name="Google Shape;17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
        <p:nvSpPr>
          <p:cNvPr id="174" name="Google Shape;174;p14"/>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a:solidFill>
                  <a:srgbClr val="2F5496"/>
                </a:solidFill>
                <a:latin typeface="Cambria"/>
                <a:ea typeface="Cambria"/>
                <a:cs typeface="Cambria"/>
                <a:sym typeface="Cambria"/>
              </a:rPr>
              <a:t>DESIGN(S) (HARDWARE)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5"/>
          <p:cNvSpPr txBox="1">
            <a:spLocks noGrp="1"/>
          </p:cNvSpPr>
          <p:nvPr>
            <p:ph type="body" idx="1"/>
          </p:nvPr>
        </p:nvSpPr>
        <p:spPr>
          <a:xfrm>
            <a:off x="838199" y="775855"/>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lnSpc>
                <a:spcPct val="150000"/>
              </a:lnSpc>
              <a:spcBef>
                <a:spcPts val="1000"/>
              </a:spcBef>
              <a:spcAft>
                <a:spcPts val="0"/>
              </a:spcAft>
              <a:buSzPts val="1800"/>
              <a:buNone/>
            </a:pPr>
            <a:r>
              <a:rPr lang="en-US" sz="2400" dirty="0">
                <a:solidFill>
                  <a:srgbClr val="980000"/>
                </a:solidFill>
                <a:latin typeface="Times New Roman" panose="02020603050405020304" pitchFamily="18" charset="0"/>
                <a:ea typeface="Cambria"/>
                <a:cs typeface="Times New Roman" panose="02020603050405020304" pitchFamily="18" charset="0"/>
                <a:sym typeface="Cambria"/>
              </a:rPr>
              <a:t>Software Architecture</a:t>
            </a:r>
            <a:endParaRPr sz="2000" dirty="0">
              <a:latin typeface="Times New Roman" panose="02020603050405020304" pitchFamily="18" charset="0"/>
              <a:ea typeface="Cambria"/>
              <a:cs typeface="Times New Roman" panose="02020603050405020304" pitchFamily="18" charset="0"/>
              <a:sym typeface="Cambria"/>
            </a:endParaRPr>
          </a:p>
          <a:p>
            <a:pPr marL="457200" lvl="0" indent="-355600" algn="l" rtl="0">
              <a:lnSpc>
                <a:spcPct val="150000"/>
              </a:lnSpc>
              <a:spcBef>
                <a:spcPts val="0"/>
              </a:spcBef>
              <a:spcAft>
                <a:spcPts val="0"/>
              </a:spcAft>
              <a:buSzPts val="2000"/>
              <a:buFont typeface="Cambria"/>
              <a:buChar char="•"/>
            </a:pPr>
            <a:r>
              <a:rPr lang="en-US" sz="2000" dirty="0">
                <a:latin typeface="Times New Roman" panose="02020603050405020304" pitchFamily="18" charset="0"/>
                <a:ea typeface="Cambria"/>
                <a:cs typeface="Times New Roman" panose="02020603050405020304" pitchFamily="18" charset="0"/>
                <a:sym typeface="Cambria"/>
              </a:rPr>
              <a:t>Data Collection</a:t>
            </a:r>
          </a:p>
          <a:p>
            <a:pPr marL="457200" lvl="0" indent="-355600" algn="l" rtl="0">
              <a:lnSpc>
                <a:spcPct val="150000"/>
              </a:lnSpc>
              <a:spcBef>
                <a:spcPts val="0"/>
              </a:spcBef>
              <a:spcAft>
                <a:spcPts val="0"/>
              </a:spcAft>
              <a:buSzPts val="2000"/>
              <a:buFont typeface="Cambria"/>
              <a:buChar char="•"/>
            </a:pPr>
            <a:r>
              <a:rPr lang="en-US" sz="2000" dirty="0">
                <a:latin typeface="Times New Roman" panose="02020603050405020304" pitchFamily="18" charset="0"/>
                <a:ea typeface="Cambria"/>
                <a:cs typeface="Times New Roman" panose="02020603050405020304" pitchFamily="18" charset="0"/>
                <a:sym typeface="Cambria"/>
              </a:rPr>
              <a:t>Data Pre-processing</a:t>
            </a:r>
          </a:p>
          <a:p>
            <a:pPr marL="457200" lvl="0" indent="-355600" algn="l" rtl="0">
              <a:lnSpc>
                <a:spcPct val="150000"/>
              </a:lnSpc>
              <a:spcBef>
                <a:spcPts val="0"/>
              </a:spcBef>
              <a:spcAft>
                <a:spcPts val="0"/>
              </a:spcAft>
              <a:buSzPts val="2000"/>
              <a:buFont typeface="Cambria"/>
              <a:buChar char="•"/>
            </a:pPr>
            <a:r>
              <a:rPr lang="en-US" sz="2000" dirty="0">
                <a:latin typeface="Times New Roman" panose="02020603050405020304" pitchFamily="18" charset="0"/>
                <a:ea typeface="Cambria"/>
                <a:cs typeface="Times New Roman" panose="02020603050405020304" pitchFamily="18" charset="0"/>
                <a:sym typeface="Cambria"/>
              </a:rPr>
              <a:t>Feature Extraction</a:t>
            </a:r>
            <a:endParaRPr sz="2000" dirty="0">
              <a:latin typeface="Times New Roman" panose="02020603050405020304" pitchFamily="18" charset="0"/>
              <a:ea typeface="Cambria"/>
              <a:cs typeface="Times New Roman" panose="02020603050405020304" pitchFamily="18" charset="0"/>
              <a:sym typeface="Cambria"/>
            </a:endParaRPr>
          </a:p>
          <a:p>
            <a:pPr marL="457200" lvl="0" indent="-355600" algn="l" rtl="0">
              <a:lnSpc>
                <a:spcPct val="150000"/>
              </a:lnSpc>
              <a:spcBef>
                <a:spcPts val="0"/>
              </a:spcBef>
              <a:spcAft>
                <a:spcPts val="0"/>
              </a:spcAft>
              <a:buSzPts val="2000"/>
              <a:buFont typeface="Cambria"/>
              <a:buChar char="•"/>
            </a:pPr>
            <a:r>
              <a:rPr lang="en-US" sz="2000" dirty="0">
                <a:latin typeface="Times New Roman" panose="02020603050405020304" pitchFamily="18" charset="0"/>
                <a:ea typeface="Cambria"/>
                <a:cs typeface="Times New Roman" panose="02020603050405020304" pitchFamily="18" charset="0"/>
                <a:sym typeface="Cambria"/>
              </a:rPr>
              <a:t>Tokens Identification Using NLP</a:t>
            </a:r>
          </a:p>
          <a:p>
            <a:pPr marL="457200" lvl="0" indent="-355600" algn="l" rtl="0">
              <a:lnSpc>
                <a:spcPct val="150000"/>
              </a:lnSpc>
              <a:spcBef>
                <a:spcPts val="0"/>
              </a:spcBef>
              <a:spcAft>
                <a:spcPts val="0"/>
              </a:spcAft>
              <a:buSzPts val="2000"/>
              <a:buFont typeface="Cambria"/>
              <a:buChar char="•"/>
            </a:pPr>
            <a:r>
              <a:rPr lang="en-US" sz="2000" dirty="0">
                <a:latin typeface="Times New Roman" panose="02020603050405020304" pitchFamily="18" charset="0"/>
                <a:ea typeface="Cambria"/>
                <a:cs typeface="Times New Roman" panose="02020603050405020304" pitchFamily="18" charset="0"/>
                <a:sym typeface="Cambria"/>
              </a:rPr>
              <a:t>Machine Learning Model</a:t>
            </a:r>
            <a:endParaRPr sz="2000" dirty="0">
              <a:latin typeface="Times New Roman" panose="02020603050405020304" pitchFamily="18" charset="0"/>
              <a:ea typeface="Cambria"/>
              <a:cs typeface="Times New Roman" panose="02020603050405020304" pitchFamily="18" charset="0"/>
              <a:sym typeface="Cambria"/>
            </a:endParaRPr>
          </a:p>
          <a:p>
            <a:pPr marL="457200" lvl="0" indent="-355600" algn="l" rtl="0">
              <a:lnSpc>
                <a:spcPct val="150000"/>
              </a:lnSpc>
              <a:spcBef>
                <a:spcPts val="0"/>
              </a:spcBef>
              <a:spcAft>
                <a:spcPts val="0"/>
              </a:spcAft>
              <a:buSzPts val="2000"/>
              <a:buFont typeface="Cambria"/>
              <a:buChar char="•"/>
            </a:pPr>
            <a:r>
              <a:rPr lang="en-US" sz="2000" dirty="0">
                <a:latin typeface="Times New Roman" panose="02020603050405020304" pitchFamily="18" charset="0"/>
                <a:ea typeface="Cambria"/>
                <a:cs typeface="Times New Roman" panose="02020603050405020304" pitchFamily="18" charset="0"/>
                <a:sym typeface="Cambria"/>
              </a:rPr>
              <a:t>Validation and Testing</a:t>
            </a:r>
            <a:endParaRPr sz="2000" dirty="0">
              <a:latin typeface="Times New Roman" panose="02020603050405020304" pitchFamily="18" charset="0"/>
              <a:ea typeface="Cambria"/>
              <a:cs typeface="Times New Roman" panose="02020603050405020304" pitchFamily="18" charset="0"/>
              <a:sym typeface="Cambria"/>
            </a:endParaRPr>
          </a:p>
          <a:p>
            <a:pPr marL="457200" lvl="0" indent="-355600" algn="l" rtl="0">
              <a:lnSpc>
                <a:spcPct val="150000"/>
              </a:lnSpc>
              <a:spcBef>
                <a:spcPts val="0"/>
              </a:spcBef>
              <a:spcAft>
                <a:spcPts val="0"/>
              </a:spcAft>
              <a:buSzPts val="2000"/>
              <a:buFont typeface="Cambria"/>
              <a:buChar char="•"/>
            </a:pPr>
            <a:r>
              <a:rPr lang="en-US" sz="2000" dirty="0">
                <a:latin typeface="Times New Roman" panose="02020603050405020304" pitchFamily="18" charset="0"/>
                <a:ea typeface="Cambria"/>
                <a:cs typeface="Times New Roman" panose="02020603050405020304" pitchFamily="18" charset="0"/>
                <a:sym typeface="Cambria"/>
              </a:rPr>
              <a:t>User Interface Using </a:t>
            </a:r>
            <a:r>
              <a:rPr lang="en-US" sz="2000" dirty="0" err="1">
                <a:latin typeface="Times New Roman" panose="02020603050405020304" pitchFamily="18" charset="0"/>
                <a:ea typeface="Cambria"/>
                <a:cs typeface="Times New Roman" panose="02020603050405020304" pitchFamily="18" charset="0"/>
                <a:sym typeface="Cambria"/>
              </a:rPr>
              <a:t>Streamlit</a:t>
            </a:r>
            <a:endParaRPr lang="en-US" sz="2000" dirty="0">
              <a:latin typeface="Times New Roman" panose="02020603050405020304" pitchFamily="18" charset="0"/>
              <a:ea typeface="Cambria"/>
              <a:cs typeface="Times New Roman" panose="02020603050405020304" pitchFamily="18" charset="0"/>
              <a:sym typeface="Cambria"/>
            </a:endParaRPr>
          </a:p>
          <a:p>
            <a:pPr marL="457200" lvl="0" indent="-355600" algn="l" rtl="0">
              <a:lnSpc>
                <a:spcPct val="150000"/>
              </a:lnSpc>
              <a:spcBef>
                <a:spcPts val="0"/>
              </a:spcBef>
              <a:spcAft>
                <a:spcPts val="0"/>
              </a:spcAft>
              <a:buSzPts val="2000"/>
              <a:buFont typeface="Cambria"/>
              <a:buChar char="•"/>
            </a:pPr>
            <a:r>
              <a:rPr lang="en-US" sz="2000" dirty="0">
                <a:latin typeface="Times New Roman" panose="02020603050405020304" pitchFamily="18" charset="0"/>
                <a:ea typeface="Cambria"/>
                <a:cs typeface="Times New Roman" panose="02020603050405020304" pitchFamily="18" charset="0"/>
                <a:sym typeface="Cambria"/>
              </a:rPr>
              <a:t>Deployment</a:t>
            </a:r>
            <a:endParaRPr sz="2000" dirty="0">
              <a:latin typeface="Times New Roman" panose="02020603050405020304" pitchFamily="18" charset="0"/>
              <a:ea typeface="Cambria"/>
              <a:cs typeface="Times New Roman" panose="02020603050405020304" pitchFamily="18" charset="0"/>
              <a:sym typeface="Cambria"/>
            </a:endParaRPr>
          </a:p>
          <a:p>
            <a:pPr marL="228600" lvl="0" indent="-50800" algn="l" rtl="0">
              <a:lnSpc>
                <a:spcPct val="90000"/>
              </a:lnSpc>
              <a:spcBef>
                <a:spcPts val="1000"/>
              </a:spcBef>
              <a:spcAft>
                <a:spcPts val="0"/>
              </a:spcAft>
              <a:buClr>
                <a:schemeClr val="dk1"/>
              </a:buClr>
              <a:buSzPts val="1100"/>
              <a:buFont typeface="Arial"/>
              <a:buNone/>
            </a:pPr>
            <a:endParaRPr sz="2000" dirty="0">
              <a:latin typeface="Times New Roman" panose="02020603050405020304" pitchFamily="18" charset="0"/>
              <a:ea typeface="Cambria"/>
              <a:cs typeface="Times New Roman" panose="02020603050405020304" pitchFamily="18" charset="0"/>
              <a:sym typeface="Cambria"/>
            </a:endParaRPr>
          </a:p>
          <a:p>
            <a:pPr marL="228600" lvl="0" indent="-50800" algn="l" rtl="0">
              <a:lnSpc>
                <a:spcPct val="90000"/>
              </a:lnSpc>
              <a:spcBef>
                <a:spcPts val="1000"/>
              </a:spcBef>
              <a:spcAft>
                <a:spcPts val="0"/>
              </a:spcAft>
              <a:buClr>
                <a:schemeClr val="dk1"/>
              </a:buClr>
              <a:buSzPts val="2800"/>
              <a:buFont typeface="Arial"/>
              <a:buNone/>
            </a:pPr>
            <a:endParaRPr sz="2000" dirty="0">
              <a:latin typeface="Cambria"/>
              <a:ea typeface="Cambria"/>
              <a:cs typeface="Cambria"/>
              <a:sym typeface="Cambria"/>
            </a:endParaRPr>
          </a:p>
        </p:txBody>
      </p:sp>
      <p:sp>
        <p:nvSpPr>
          <p:cNvPr id="180" name="Google Shape;18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05-08-2023</a:t>
            </a:r>
            <a:endParaRPr/>
          </a:p>
        </p:txBody>
      </p:sp>
      <p:sp>
        <p:nvSpPr>
          <p:cNvPr id="181" name="Google Shape;18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FIRST REVIEW PRESENTATION</a:t>
            </a:r>
            <a:endParaRPr/>
          </a:p>
        </p:txBody>
      </p:sp>
      <p:sp>
        <p:nvSpPr>
          <p:cNvPr id="182" name="Google Shape;18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
        <p:nvSpPr>
          <p:cNvPr id="183" name="Google Shape;183;p15"/>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a:solidFill>
                  <a:srgbClr val="2F5496"/>
                </a:solidFill>
                <a:latin typeface="Cambria"/>
                <a:ea typeface="Cambria"/>
                <a:cs typeface="Cambria"/>
                <a:sym typeface="Cambria"/>
              </a:rPr>
              <a:t>DESIGN(S) (SOFTWARE ARCHITECTURE)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6"/>
          <p:cNvSpPr txBox="1">
            <a:spLocks noGrp="1"/>
          </p:cNvSpPr>
          <p:nvPr>
            <p:ph type="body" idx="1"/>
          </p:nvPr>
        </p:nvSpPr>
        <p:spPr>
          <a:xfrm>
            <a:off x="838199" y="775855"/>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marL="228600" lvl="0" indent="-50800" algn="l" rtl="0">
              <a:lnSpc>
                <a:spcPct val="90000"/>
              </a:lnSpc>
              <a:spcBef>
                <a:spcPts val="1000"/>
              </a:spcBef>
              <a:spcAft>
                <a:spcPts val="0"/>
              </a:spcAft>
              <a:buClr>
                <a:schemeClr val="dk1"/>
              </a:buClr>
              <a:buSzPts val="2800"/>
              <a:buNone/>
            </a:pPr>
            <a:r>
              <a:rPr lang="en-US" sz="2400" dirty="0">
                <a:solidFill>
                  <a:srgbClr val="980000"/>
                </a:solidFill>
                <a:latin typeface="Times New Roman" panose="02020603050405020304" pitchFamily="18" charset="0"/>
                <a:ea typeface="Cambria"/>
                <a:cs typeface="Times New Roman" panose="02020603050405020304" pitchFamily="18" charset="0"/>
                <a:sym typeface="Cambria"/>
              </a:rPr>
              <a:t>Software Libraries and Frameworks</a:t>
            </a:r>
            <a:endParaRPr sz="2400" dirty="0">
              <a:solidFill>
                <a:srgbClr val="980000"/>
              </a:solidFill>
              <a:latin typeface="Times New Roman" panose="02020603050405020304" pitchFamily="18" charset="0"/>
              <a:ea typeface="Cambria"/>
              <a:cs typeface="Times New Roman" panose="02020603050405020304" pitchFamily="18" charset="0"/>
              <a:sym typeface="Cambria"/>
            </a:endParaRPr>
          </a:p>
          <a:p>
            <a:pPr marL="457200" lvl="0" indent="-355600" algn="l" rtl="0">
              <a:lnSpc>
                <a:spcPct val="150000"/>
              </a:lnSpc>
              <a:spcBef>
                <a:spcPts val="1000"/>
              </a:spcBef>
              <a:spcAft>
                <a:spcPts val="0"/>
              </a:spcAft>
              <a:buSzPts val="2000"/>
              <a:buFont typeface="Cambria"/>
              <a:buChar char="•"/>
            </a:pPr>
            <a:r>
              <a:rPr lang="en-US" sz="2000" dirty="0">
                <a:latin typeface="Times New Roman" panose="02020603050405020304" pitchFamily="18" charset="0"/>
                <a:ea typeface="Cambria"/>
                <a:cs typeface="Times New Roman" panose="02020603050405020304" pitchFamily="18" charset="0"/>
                <a:sym typeface="Cambria"/>
              </a:rPr>
              <a:t>Python</a:t>
            </a:r>
          </a:p>
          <a:p>
            <a:pPr marL="457200" lvl="0" indent="-355600" algn="l" rtl="0">
              <a:lnSpc>
                <a:spcPct val="150000"/>
              </a:lnSpc>
              <a:spcBef>
                <a:spcPts val="1000"/>
              </a:spcBef>
              <a:spcAft>
                <a:spcPts val="0"/>
              </a:spcAft>
              <a:buSzPts val="2000"/>
              <a:buFont typeface="Cambria"/>
              <a:buChar char="•"/>
            </a:pPr>
            <a:r>
              <a:rPr lang="en-US" sz="2000" dirty="0">
                <a:latin typeface="Times New Roman" panose="02020603050405020304" pitchFamily="18" charset="0"/>
                <a:ea typeface="Cambria"/>
                <a:cs typeface="Times New Roman" panose="02020603050405020304" pitchFamily="18" charset="0"/>
                <a:sym typeface="Cambria"/>
              </a:rPr>
              <a:t>NLTK</a:t>
            </a:r>
          </a:p>
          <a:p>
            <a:pPr marL="457200" lvl="0" indent="-355600" algn="l" rtl="0">
              <a:lnSpc>
                <a:spcPct val="150000"/>
              </a:lnSpc>
              <a:spcBef>
                <a:spcPts val="1000"/>
              </a:spcBef>
              <a:spcAft>
                <a:spcPts val="0"/>
              </a:spcAft>
              <a:buSzPts val="2000"/>
              <a:buFont typeface="Cambria"/>
              <a:buChar char="•"/>
            </a:pPr>
            <a:r>
              <a:rPr lang="en-US" sz="2000" dirty="0">
                <a:latin typeface="Times New Roman" panose="02020603050405020304" pitchFamily="18" charset="0"/>
                <a:ea typeface="Cambria"/>
                <a:cs typeface="Times New Roman" panose="02020603050405020304" pitchFamily="18" charset="0"/>
                <a:sym typeface="Cambria"/>
              </a:rPr>
              <a:t>Spacy</a:t>
            </a:r>
          </a:p>
          <a:p>
            <a:pPr marL="457200" lvl="0" indent="-355600" algn="l" rtl="0">
              <a:lnSpc>
                <a:spcPct val="150000"/>
              </a:lnSpc>
              <a:spcBef>
                <a:spcPts val="1000"/>
              </a:spcBef>
              <a:spcAft>
                <a:spcPts val="0"/>
              </a:spcAft>
              <a:buSzPts val="2000"/>
              <a:buFont typeface="Cambria"/>
              <a:buChar char="•"/>
            </a:pPr>
            <a:r>
              <a:rPr lang="en-US" sz="2000" dirty="0" err="1">
                <a:latin typeface="Times New Roman" panose="02020603050405020304" pitchFamily="18" charset="0"/>
                <a:ea typeface="Cambria"/>
                <a:cs typeface="Times New Roman" panose="02020603050405020304" pitchFamily="18" charset="0"/>
                <a:sym typeface="Cambria"/>
              </a:rPr>
              <a:t>Gensim</a:t>
            </a:r>
            <a:endParaRPr lang="en-US" sz="2000" dirty="0">
              <a:latin typeface="Times New Roman" panose="02020603050405020304" pitchFamily="18" charset="0"/>
              <a:ea typeface="Cambria"/>
              <a:cs typeface="Times New Roman" panose="02020603050405020304" pitchFamily="18" charset="0"/>
              <a:sym typeface="Cambria"/>
            </a:endParaRPr>
          </a:p>
          <a:p>
            <a:pPr marL="457200" lvl="0" indent="-355600" algn="l" rtl="0">
              <a:lnSpc>
                <a:spcPct val="150000"/>
              </a:lnSpc>
              <a:spcBef>
                <a:spcPts val="1000"/>
              </a:spcBef>
              <a:spcAft>
                <a:spcPts val="0"/>
              </a:spcAft>
              <a:buSzPts val="2000"/>
              <a:buFont typeface="Cambria"/>
              <a:buChar char="•"/>
            </a:pPr>
            <a:r>
              <a:rPr lang="en-US" sz="2000" dirty="0" err="1">
                <a:latin typeface="Times New Roman" panose="02020603050405020304" pitchFamily="18" charset="0"/>
                <a:ea typeface="Cambria"/>
                <a:cs typeface="Times New Roman" panose="02020603050405020304" pitchFamily="18" charset="0"/>
                <a:sym typeface="Cambria"/>
              </a:rPr>
              <a:t>TextBlob</a:t>
            </a:r>
            <a:endParaRPr lang="en-US" sz="2000" dirty="0">
              <a:latin typeface="Times New Roman" panose="02020603050405020304" pitchFamily="18" charset="0"/>
              <a:ea typeface="Cambria"/>
              <a:cs typeface="Times New Roman" panose="02020603050405020304" pitchFamily="18" charset="0"/>
              <a:sym typeface="Cambria"/>
            </a:endParaRPr>
          </a:p>
          <a:p>
            <a:pPr marL="457200" lvl="0" indent="-355600" algn="l" rtl="0">
              <a:lnSpc>
                <a:spcPct val="150000"/>
              </a:lnSpc>
              <a:spcBef>
                <a:spcPts val="1000"/>
              </a:spcBef>
              <a:spcAft>
                <a:spcPts val="0"/>
              </a:spcAft>
              <a:buSzPts val="2000"/>
              <a:buFont typeface="Cambria"/>
              <a:buChar char="•"/>
            </a:pPr>
            <a:r>
              <a:rPr lang="en-US" sz="2000" dirty="0" err="1">
                <a:latin typeface="Times New Roman" panose="02020603050405020304" pitchFamily="18" charset="0"/>
                <a:ea typeface="Cambria"/>
                <a:cs typeface="Times New Roman" panose="02020603050405020304" pitchFamily="18" charset="0"/>
                <a:sym typeface="Cambria"/>
              </a:rPr>
              <a:t>Pyreparser</a:t>
            </a:r>
            <a:endParaRPr lang="en-US" sz="2000" dirty="0">
              <a:latin typeface="Times New Roman" panose="02020603050405020304" pitchFamily="18" charset="0"/>
              <a:ea typeface="Cambria"/>
              <a:cs typeface="Times New Roman" panose="02020603050405020304" pitchFamily="18" charset="0"/>
              <a:sym typeface="Cambria"/>
            </a:endParaRPr>
          </a:p>
          <a:p>
            <a:pPr marL="457200" lvl="0" indent="-355600" algn="l" rtl="0">
              <a:lnSpc>
                <a:spcPct val="150000"/>
              </a:lnSpc>
              <a:spcBef>
                <a:spcPts val="1000"/>
              </a:spcBef>
              <a:spcAft>
                <a:spcPts val="0"/>
              </a:spcAft>
              <a:buSzPts val="2000"/>
              <a:buFont typeface="Cambria"/>
              <a:buChar char="•"/>
            </a:pPr>
            <a:r>
              <a:rPr lang="en-US" sz="2000" dirty="0" err="1">
                <a:latin typeface="Times New Roman" panose="02020603050405020304" pitchFamily="18" charset="0"/>
                <a:ea typeface="Cambria"/>
                <a:cs typeface="Times New Roman" panose="02020603050405020304" pitchFamily="18" charset="0"/>
                <a:sym typeface="Cambria"/>
              </a:rPr>
              <a:t>Streamlit</a:t>
            </a:r>
            <a:r>
              <a:rPr lang="en-US" sz="2000" dirty="0">
                <a:latin typeface="Times New Roman" panose="02020603050405020304" pitchFamily="18" charset="0"/>
                <a:ea typeface="Cambria"/>
                <a:cs typeface="Times New Roman" panose="02020603050405020304" pitchFamily="18" charset="0"/>
                <a:sym typeface="Cambria"/>
              </a:rPr>
              <a:t> Framework</a:t>
            </a:r>
          </a:p>
          <a:p>
            <a:pPr marL="101600" lvl="0" indent="0" algn="l" rtl="0">
              <a:lnSpc>
                <a:spcPct val="150000"/>
              </a:lnSpc>
              <a:spcBef>
                <a:spcPts val="1000"/>
              </a:spcBef>
              <a:spcAft>
                <a:spcPts val="0"/>
              </a:spcAft>
              <a:buSzPts val="2000"/>
              <a:buNone/>
            </a:pPr>
            <a:endParaRPr sz="2000" dirty="0">
              <a:latin typeface="Cambria"/>
              <a:ea typeface="Cambria"/>
              <a:cs typeface="Cambria"/>
              <a:sym typeface="Cambria"/>
            </a:endParaRPr>
          </a:p>
          <a:p>
            <a:pPr marL="228600" lvl="0" indent="-50800" algn="l" rtl="0">
              <a:lnSpc>
                <a:spcPct val="90000"/>
              </a:lnSpc>
              <a:spcBef>
                <a:spcPts val="1000"/>
              </a:spcBef>
              <a:spcAft>
                <a:spcPts val="0"/>
              </a:spcAft>
              <a:buClr>
                <a:schemeClr val="dk1"/>
              </a:buClr>
              <a:buSzPts val="2800"/>
              <a:buNone/>
            </a:pPr>
            <a:endParaRPr sz="2000" dirty="0">
              <a:latin typeface="Cambria"/>
              <a:ea typeface="Cambria"/>
              <a:cs typeface="Cambria"/>
              <a:sym typeface="Cambria"/>
            </a:endParaRPr>
          </a:p>
        </p:txBody>
      </p:sp>
      <p:sp>
        <p:nvSpPr>
          <p:cNvPr id="189" name="Google Shape;189;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05-08-2023</a:t>
            </a:r>
            <a:endParaRPr/>
          </a:p>
        </p:txBody>
      </p:sp>
      <p:sp>
        <p:nvSpPr>
          <p:cNvPr id="190" name="Google Shape;190;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FIRST REVIEW PRESENTATION</a:t>
            </a:r>
            <a:endParaRPr/>
          </a:p>
        </p:txBody>
      </p:sp>
      <p:sp>
        <p:nvSpPr>
          <p:cNvPr id="191" name="Google Shape;191;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
        <p:nvSpPr>
          <p:cNvPr id="192" name="Google Shape;192;p16"/>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a:solidFill>
                  <a:srgbClr val="2F5496"/>
                </a:solidFill>
                <a:latin typeface="Cambria"/>
                <a:ea typeface="Cambria"/>
                <a:cs typeface="Cambria"/>
                <a:sym typeface="Cambria"/>
              </a:rPr>
              <a:t>DESIGN(S) (HARDWARE / SOFTWARE ARCHITECTURE)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7"/>
          <p:cNvSpPr txBox="1">
            <a:spLocks noGrp="1"/>
          </p:cNvSpPr>
          <p:nvPr>
            <p:ph type="body" idx="1"/>
          </p:nvPr>
        </p:nvSpPr>
        <p:spPr>
          <a:xfrm>
            <a:off x="838199" y="775855"/>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C00000"/>
              </a:buClr>
              <a:buSzPts val="2800"/>
              <a:buNone/>
            </a:pPr>
            <a:r>
              <a:rPr lang="en-US" b="1" dirty="0">
                <a:solidFill>
                  <a:srgbClr val="C00000"/>
                </a:solidFill>
                <a:latin typeface="Times New Roman" panose="02020603050405020304" pitchFamily="18" charset="0"/>
                <a:cs typeface="Times New Roman" panose="02020603050405020304" pitchFamily="18" charset="0"/>
              </a:rPr>
              <a:t>Batch Member 1 : ( </a:t>
            </a:r>
            <a:r>
              <a:rPr lang="en-US" b="1" dirty="0">
                <a:solidFill>
                  <a:srgbClr val="C00000"/>
                </a:solidFill>
                <a:latin typeface="Times New Roman" panose="02020603050405020304" pitchFamily="18" charset="0"/>
                <a:ea typeface="Cambria"/>
                <a:cs typeface="Times New Roman" panose="02020603050405020304" pitchFamily="18" charset="0"/>
                <a:sym typeface="Cambria"/>
              </a:rPr>
              <a:t>7376212CB140- ROSHINI R</a:t>
            </a:r>
            <a:r>
              <a:rPr lang="en-US" b="1" dirty="0">
                <a:solidFill>
                  <a:srgbClr val="C00000"/>
                </a:solidFill>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marL="457200" lvl="0" indent="-355600" algn="l" rtl="0">
              <a:lnSpc>
                <a:spcPct val="150000"/>
              </a:lnSpc>
              <a:spcBef>
                <a:spcPts val="0"/>
              </a:spcBef>
              <a:spcAft>
                <a:spcPts val="0"/>
              </a:spcAft>
              <a:buSzPts val="2000"/>
              <a:buFont typeface="Cambria"/>
              <a:buAutoNum type="arabicPeriod"/>
            </a:pPr>
            <a:r>
              <a:rPr lang="en-US" sz="2000" dirty="0">
                <a:latin typeface="Times New Roman" panose="02020603050405020304" pitchFamily="18" charset="0"/>
                <a:ea typeface="Cambria"/>
                <a:cs typeface="Times New Roman" panose="02020603050405020304" pitchFamily="18" charset="0"/>
                <a:sym typeface="Cambria"/>
              </a:rPr>
              <a:t>Prototype designing</a:t>
            </a:r>
          </a:p>
          <a:p>
            <a:pPr marL="457200" lvl="0" indent="-355600" algn="l" rtl="0">
              <a:lnSpc>
                <a:spcPct val="150000"/>
              </a:lnSpc>
              <a:spcBef>
                <a:spcPts val="0"/>
              </a:spcBef>
              <a:spcAft>
                <a:spcPts val="0"/>
              </a:spcAft>
              <a:buSzPts val="2000"/>
              <a:buFont typeface="Cambria"/>
              <a:buAutoNum type="arabicPeriod"/>
            </a:pPr>
            <a:r>
              <a:rPr lang="en-US" sz="2000" dirty="0">
                <a:latin typeface="Times New Roman" panose="02020603050405020304" pitchFamily="18" charset="0"/>
                <a:ea typeface="Cambria"/>
                <a:cs typeface="Times New Roman" panose="02020603050405020304" pitchFamily="18" charset="0"/>
                <a:sym typeface="Cambria"/>
              </a:rPr>
              <a:t>Model building</a:t>
            </a:r>
          </a:p>
          <a:p>
            <a:pPr marL="101600" indent="0">
              <a:lnSpc>
                <a:spcPct val="150000"/>
              </a:lnSpc>
              <a:spcBef>
                <a:spcPts val="0"/>
              </a:spcBef>
              <a:buSzPts val="2000"/>
              <a:buNone/>
            </a:pPr>
            <a:r>
              <a:rPr lang="en-US" b="1" dirty="0">
                <a:solidFill>
                  <a:srgbClr val="C00000"/>
                </a:solidFill>
                <a:latin typeface="Times New Roman" panose="02020603050405020304" pitchFamily="18" charset="0"/>
                <a:cs typeface="Times New Roman" panose="02020603050405020304" pitchFamily="18" charset="0"/>
              </a:rPr>
              <a:t>Batch Member 2 : ( </a:t>
            </a:r>
            <a:r>
              <a:rPr lang="en-US" b="1" dirty="0">
                <a:solidFill>
                  <a:srgbClr val="C00000"/>
                </a:solidFill>
                <a:latin typeface="Times New Roman" panose="02020603050405020304" pitchFamily="18" charset="0"/>
                <a:ea typeface="Cambria"/>
                <a:cs typeface="Times New Roman" panose="02020603050405020304" pitchFamily="18" charset="0"/>
                <a:sym typeface="Cambria"/>
              </a:rPr>
              <a:t>7376212CB103- AKSHAYA R</a:t>
            </a:r>
            <a:r>
              <a:rPr lang="en-US" b="1" dirty="0">
                <a:solidFill>
                  <a:srgbClr val="C00000"/>
                </a:solidFill>
                <a:latin typeface="Times New Roman" panose="02020603050405020304" pitchFamily="18" charset="0"/>
                <a:cs typeface="Times New Roman" panose="02020603050405020304" pitchFamily="18" charset="0"/>
              </a:rPr>
              <a:t>)</a:t>
            </a:r>
          </a:p>
          <a:p>
            <a:pPr marL="615950" indent="-514350">
              <a:lnSpc>
                <a:spcPct val="150000"/>
              </a:lnSpc>
              <a:spcBef>
                <a:spcPts val="0"/>
              </a:spcBef>
              <a:buSzPts val="2000"/>
              <a:buFont typeface="+mj-lt"/>
              <a:buAutoNum type="arabicPeriod"/>
            </a:pPr>
            <a:r>
              <a:rPr lang="en-US" sz="2000" dirty="0">
                <a:latin typeface="Times New Roman" panose="02020603050405020304" pitchFamily="18" charset="0"/>
                <a:ea typeface="Cambria" panose="02040503050406030204" pitchFamily="18" charset="0"/>
                <a:cs typeface="Times New Roman" panose="02020603050405020304" pitchFamily="18" charset="0"/>
              </a:rPr>
              <a:t>Backend</a:t>
            </a:r>
          </a:p>
          <a:p>
            <a:pPr marL="615950" indent="-514350">
              <a:lnSpc>
                <a:spcPct val="150000"/>
              </a:lnSpc>
              <a:spcBef>
                <a:spcPts val="0"/>
              </a:spcBef>
              <a:buSzPts val="2000"/>
              <a:buFont typeface="+mj-lt"/>
              <a:buAutoNum type="arabicPeriod"/>
            </a:pPr>
            <a:r>
              <a:rPr lang="en-US" sz="2000" dirty="0">
                <a:latin typeface="Times New Roman" panose="02020603050405020304" pitchFamily="18" charset="0"/>
                <a:ea typeface="Cambria" panose="02040503050406030204" pitchFamily="18" charset="0"/>
                <a:cs typeface="Times New Roman" panose="02020603050405020304" pitchFamily="18" charset="0"/>
              </a:rPr>
              <a:t>Dataset collection</a:t>
            </a:r>
          </a:p>
          <a:p>
            <a:pPr marL="101600" indent="0">
              <a:lnSpc>
                <a:spcPct val="150000"/>
              </a:lnSpc>
              <a:spcBef>
                <a:spcPts val="0"/>
              </a:spcBef>
              <a:buSzPts val="2000"/>
              <a:buNone/>
            </a:pPr>
            <a:r>
              <a:rPr lang="en-US" b="1" dirty="0">
                <a:solidFill>
                  <a:srgbClr val="C00000"/>
                </a:solidFill>
                <a:latin typeface="Times New Roman" panose="02020603050405020304" pitchFamily="18" charset="0"/>
                <a:cs typeface="Times New Roman" panose="02020603050405020304" pitchFamily="18" charset="0"/>
              </a:rPr>
              <a:t>Batch Member 3 : ( </a:t>
            </a:r>
            <a:r>
              <a:rPr lang="en-US" b="1" dirty="0">
                <a:solidFill>
                  <a:srgbClr val="C00000"/>
                </a:solidFill>
                <a:latin typeface="Times New Roman" panose="02020603050405020304" pitchFamily="18" charset="0"/>
                <a:ea typeface="Cambria"/>
                <a:cs typeface="Times New Roman" panose="02020603050405020304" pitchFamily="18" charset="0"/>
                <a:sym typeface="Cambria"/>
              </a:rPr>
              <a:t>7376212CB127- LAKSITA V S</a:t>
            </a:r>
            <a:r>
              <a:rPr lang="en-US" b="1" dirty="0">
                <a:solidFill>
                  <a:srgbClr val="C00000"/>
                </a:solidFill>
                <a:latin typeface="Times New Roman" panose="02020603050405020304" pitchFamily="18" charset="0"/>
                <a:cs typeface="Times New Roman" panose="02020603050405020304" pitchFamily="18" charset="0"/>
              </a:rPr>
              <a:t>)</a:t>
            </a:r>
          </a:p>
          <a:p>
            <a:pPr marL="615950" indent="-514350">
              <a:lnSpc>
                <a:spcPct val="150000"/>
              </a:lnSpc>
              <a:spcBef>
                <a:spcPts val="0"/>
              </a:spcBef>
              <a:buSzPts val="2000"/>
              <a:buFont typeface="+mj-lt"/>
              <a:buAutoNum type="arabicPeriod"/>
            </a:pPr>
            <a:r>
              <a:rPr lang="en-US" sz="2000" dirty="0">
                <a:latin typeface="Times New Roman" panose="02020603050405020304" pitchFamily="18" charset="0"/>
                <a:ea typeface="Cambria" panose="02040503050406030204" pitchFamily="18" charset="0"/>
                <a:cs typeface="Times New Roman" panose="02020603050405020304" pitchFamily="18" charset="0"/>
              </a:rPr>
              <a:t>Technical stack search</a:t>
            </a:r>
          </a:p>
          <a:p>
            <a:pPr marL="101600" lvl="0" indent="0" algn="l" rtl="0">
              <a:lnSpc>
                <a:spcPct val="150000"/>
              </a:lnSpc>
              <a:spcBef>
                <a:spcPts val="0"/>
              </a:spcBef>
              <a:spcAft>
                <a:spcPts val="0"/>
              </a:spcAft>
              <a:buSzPts val="2000"/>
              <a:buNone/>
            </a:pPr>
            <a:endParaRPr sz="2000" dirty="0">
              <a:latin typeface="Cambria"/>
              <a:ea typeface="Cambria"/>
              <a:cs typeface="Cambria"/>
              <a:sym typeface="Cambria"/>
            </a:endParaRPr>
          </a:p>
        </p:txBody>
      </p:sp>
      <p:sp>
        <p:nvSpPr>
          <p:cNvPr id="198" name="Google Shape;19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05-08-2023</a:t>
            </a:r>
            <a:endParaRPr/>
          </a:p>
        </p:txBody>
      </p:sp>
      <p:sp>
        <p:nvSpPr>
          <p:cNvPr id="199" name="Google Shape;19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FIRST REVIEW PRESENTATION</a:t>
            </a:r>
            <a:endParaRPr/>
          </a:p>
        </p:txBody>
      </p:sp>
      <p:sp>
        <p:nvSpPr>
          <p:cNvPr id="200" name="Google Shape;20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
        <p:nvSpPr>
          <p:cNvPr id="201" name="Google Shape;201;p17"/>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70C0"/>
              </a:buClr>
              <a:buSzPts val="2400"/>
              <a:buFont typeface="Cambria"/>
              <a:buNone/>
            </a:pPr>
            <a:r>
              <a:rPr lang="en-US" sz="2400" b="1">
                <a:solidFill>
                  <a:srgbClr val="0070C0"/>
                </a:solidFill>
                <a:latin typeface="Cambria"/>
                <a:ea typeface="Cambria"/>
                <a:cs typeface="Cambria"/>
                <a:sym typeface="Cambria"/>
              </a:rPr>
              <a:t>INDIVIDUAL CONTRIBUTIONS TO THE WORK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1"/>
          <p:cNvSpPr txBox="1">
            <a:spLocks noGrp="1"/>
          </p:cNvSpPr>
          <p:nvPr>
            <p:ph type="title"/>
          </p:nvPr>
        </p:nvSpPr>
        <p:spPr>
          <a:xfrm>
            <a:off x="838200" y="365126"/>
            <a:ext cx="10515600" cy="6879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70C0"/>
              </a:buClr>
              <a:buSzPts val="2400"/>
              <a:buFont typeface="Cambria"/>
              <a:buNone/>
            </a:pPr>
            <a:r>
              <a:rPr lang="en-US" sz="2400" b="1">
                <a:solidFill>
                  <a:srgbClr val="0070C0"/>
                </a:solidFill>
                <a:latin typeface="Cambria"/>
                <a:ea typeface="Cambria"/>
                <a:cs typeface="Cambria"/>
                <a:sym typeface="Cambria"/>
              </a:rPr>
              <a:t>PLAN FOR PUBLICATIONS</a:t>
            </a:r>
            <a:endParaRPr sz="2400" b="1">
              <a:solidFill>
                <a:srgbClr val="0070C0"/>
              </a:solidFill>
              <a:latin typeface="Cambria"/>
              <a:ea typeface="Cambria"/>
              <a:cs typeface="Cambria"/>
              <a:sym typeface="Cambria"/>
            </a:endParaRPr>
          </a:p>
        </p:txBody>
      </p:sp>
      <p:sp>
        <p:nvSpPr>
          <p:cNvPr id="207" name="Google Shape;207;p21"/>
          <p:cNvSpPr txBox="1">
            <a:spLocks noGrp="1"/>
          </p:cNvSpPr>
          <p:nvPr>
            <p:ph type="body" idx="1"/>
          </p:nvPr>
        </p:nvSpPr>
        <p:spPr>
          <a:xfrm>
            <a:off x="1085222" y="1052946"/>
            <a:ext cx="10268578" cy="43512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1000"/>
              </a:spcBef>
              <a:spcAft>
                <a:spcPts val="0"/>
              </a:spcAft>
              <a:buClr>
                <a:schemeClr val="dk1"/>
              </a:buClr>
              <a:buSzPts val="2800"/>
              <a:buNone/>
            </a:pPr>
            <a:endParaRPr sz="2000" b="1" dirty="0">
              <a:latin typeface="Cambria"/>
              <a:ea typeface="Cambria"/>
              <a:cs typeface="Cambria"/>
              <a:sym typeface="Cambria"/>
            </a:endParaRPr>
          </a:p>
          <a:p>
            <a:pPr marL="228600" lvl="0" indent="-50800" algn="l" rtl="0">
              <a:lnSpc>
                <a:spcPct val="90000"/>
              </a:lnSpc>
              <a:spcBef>
                <a:spcPts val="1000"/>
              </a:spcBef>
              <a:spcAft>
                <a:spcPts val="0"/>
              </a:spcAft>
              <a:buClr>
                <a:schemeClr val="dk1"/>
              </a:buClr>
              <a:buSzPts val="2800"/>
              <a:buNone/>
            </a:pPr>
            <a:endParaRPr sz="2000" b="1" dirty="0">
              <a:latin typeface="Cambria"/>
              <a:ea typeface="Cambria"/>
              <a:cs typeface="Cambria"/>
              <a:sym typeface="Cambria"/>
            </a:endParaRPr>
          </a:p>
          <a:p>
            <a:pPr marL="0" indent="0">
              <a:buNone/>
            </a:pPr>
            <a:r>
              <a:rPr lang="en-US" sz="1600" b="1" i="0" dirty="0">
                <a:solidFill>
                  <a:srgbClr val="0000FF"/>
                </a:solidFill>
                <a:effectLst/>
                <a:latin typeface="Book Antiqua" panose="02040602050305030304" pitchFamily="18" charset="0"/>
              </a:rPr>
              <a:t> </a:t>
            </a:r>
            <a:r>
              <a:rPr lang="en-US" sz="1600" b="1" dirty="0">
                <a:solidFill>
                  <a:schemeClr val="tx1"/>
                </a:solidFill>
                <a:latin typeface="Times New Roman" panose="02020603050405020304" pitchFamily="18" charset="0"/>
                <a:cs typeface="Times New Roman" panose="02020603050405020304" pitchFamily="18" charset="0"/>
              </a:rPr>
              <a:t>”</a:t>
            </a:r>
            <a:r>
              <a:rPr lang="en-US" sz="1600" b="1" i="0" dirty="0">
                <a:solidFill>
                  <a:schemeClr val="tx1"/>
                </a:solidFill>
                <a:effectLst/>
                <a:latin typeface="Times New Roman" panose="02020603050405020304" pitchFamily="18" charset="0"/>
                <a:cs typeface="Times New Roman" panose="02020603050405020304" pitchFamily="18" charset="0"/>
              </a:rPr>
              <a:t>NATIONAL EDGE COMPUTING SUMMIT:  REVOLUTIONIZING CONNECTIVITY AND COMPUTING” (NECSRCC- 2023)</a:t>
            </a:r>
            <a:endParaRPr lang="en-IN" sz="1600" dirty="0">
              <a:solidFill>
                <a:schemeClr val="tx1"/>
              </a:solidFill>
              <a:latin typeface="Times New Roman" panose="02020603050405020304" pitchFamily="18" charset="0"/>
              <a:cs typeface="Times New Roman" panose="02020603050405020304" pitchFamily="18" charset="0"/>
            </a:endParaRPr>
          </a:p>
          <a:p>
            <a:pPr marL="0" lvl="0" indent="0" algn="l" rtl="0">
              <a:lnSpc>
                <a:spcPct val="90000"/>
              </a:lnSpc>
              <a:spcBef>
                <a:spcPts val="1000"/>
              </a:spcBef>
              <a:spcAft>
                <a:spcPts val="0"/>
              </a:spcAft>
              <a:buSzPts val="1800"/>
              <a:buNone/>
            </a:pPr>
            <a:endParaRPr sz="2000" dirty="0">
              <a:latin typeface="Cambria"/>
              <a:ea typeface="Cambria"/>
              <a:cs typeface="Cambria"/>
              <a:sym typeface="Cambria"/>
            </a:endParaRPr>
          </a:p>
        </p:txBody>
      </p:sp>
      <p:sp>
        <p:nvSpPr>
          <p:cNvPr id="208" name="Google Shape;208;p2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05-08-2023</a:t>
            </a:r>
            <a:endParaRPr/>
          </a:p>
        </p:txBody>
      </p:sp>
      <p:sp>
        <p:nvSpPr>
          <p:cNvPr id="209" name="Google Shape;209;p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FIRST REVIEW PRESENTATION</a:t>
            </a:r>
            <a:endParaRPr/>
          </a:p>
        </p:txBody>
      </p:sp>
      <p:sp>
        <p:nvSpPr>
          <p:cNvPr id="210" name="Google Shape;210;p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2"/>
          <p:cNvSpPr txBox="1">
            <a:spLocks noGrp="1"/>
          </p:cNvSpPr>
          <p:nvPr>
            <p:ph type="title"/>
          </p:nvPr>
        </p:nvSpPr>
        <p:spPr>
          <a:xfrm>
            <a:off x="838200" y="365126"/>
            <a:ext cx="10515600" cy="68782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70C0"/>
              </a:buClr>
              <a:buSzPts val="2400"/>
              <a:buFont typeface="Cambria"/>
              <a:buNone/>
            </a:pPr>
            <a:r>
              <a:rPr lang="en-US" sz="2400" b="1">
                <a:solidFill>
                  <a:srgbClr val="0070C0"/>
                </a:solidFill>
                <a:latin typeface="Cambria"/>
                <a:ea typeface="Cambria"/>
                <a:cs typeface="Cambria"/>
                <a:sym typeface="Cambria"/>
              </a:rPr>
              <a:t>Status on Partial Completion and Submission of Project Report</a:t>
            </a:r>
            <a:endParaRPr sz="2400" b="1">
              <a:solidFill>
                <a:srgbClr val="0070C0"/>
              </a:solidFill>
              <a:latin typeface="Cambria"/>
              <a:ea typeface="Cambria"/>
              <a:cs typeface="Cambria"/>
              <a:sym typeface="Cambria"/>
            </a:endParaRPr>
          </a:p>
        </p:txBody>
      </p:sp>
      <p:sp>
        <p:nvSpPr>
          <p:cNvPr id="216" name="Google Shape;216;p22"/>
          <p:cNvSpPr txBox="1">
            <a:spLocks noGrp="1"/>
          </p:cNvSpPr>
          <p:nvPr>
            <p:ph type="body" idx="1"/>
          </p:nvPr>
        </p:nvSpPr>
        <p:spPr>
          <a:xfrm>
            <a:off x="838200" y="1052946"/>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85623"/>
              </a:buClr>
              <a:buSzPts val="2800"/>
              <a:buNone/>
            </a:pPr>
            <a:r>
              <a:rPr lang="en-US" b="1">
                <a:solidFill>
                  <a:srgbClr val="385623"/>
                </a:solidFill>
              </a:rPr>
              <a:t>List of Documents to be Submitted </a:t>
            </a:r>
            <a:endParaRPr sz="2000">
              <a:solidFill>
                <a:srgbClr val="385623"/>
              </a:solidFill>
            </a:endParaRPr>
          </a:p>
          <a:p>
            <a:pPr marL="0" lvl="0" indent="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sp>
        <p:nvSpPr>
          <p:cNvPr id="217" name="Google Shape;21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05-08-2023</a:t>
            </a:r>
            <a:endParaRPr/>
          </a:p>
        </p:txBody>
      </p:sp>
      <p:sp>
        <p:nvSpPr>
          <p:cNvPr id="218" name="Google Shape;21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FIRST REVIEW PRESENTATION</a:t>
            </a:r>
            <a:endParaRPr/>
          </a:p>
        </p:txBody>
      </p:sp>
      <p:sp>
        <p:nvSpPr>
          <p:cNvPr id="219" name="Google Shape;21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graphicFrame>
        <p:nvGraphicFramePr>
          <p:cNvPr id="220" name="Google Shape;220;p22"/>
          <p:cNvGraphicFramePr/>
          <p:nvPr>
            <p:extLst>
              <p:ext uri="{D42A27DB-BD31-4B8C-83A1-F6EECF244321}">
                <p14:modId xmlns:p14="http://schemas.microsoft.com/office/powerpoint/2010/main" val="1252395718"/>
              </p:ext>
            </p:extLst>
          </p:nvPr>
        </p:nvGraphicFramePr>
        <p:xfrm>
          <a:off x="838200" y="1645087"/>
          <a:ext cx="10111525" cy="1219220"/>
        </p:xfrm>
        <a:graphic>
          <a:graphicData uri="http://schemas.openxmlformats.org/drawingml/2006/table">
            <a:tbl>
              <a:tblPr firstRow="1" bandRow="1">
                <a:noFill/>
                <a:tableStyleId>{926AEBF4-87D4-48E0-A5A5-819B1B4C4946}</a:tableStyleId>
              </a:tblPr>
              <a:tblGrid>
                <a:gridCol w="988300">
                  <a:extLst>
                    <a:ext uri="{9D8B030D-6E8A-4147-A177-3AD203B41FA5}">
                      <a16:colId xmlns:a16="http://schemas.microsoft.com/office/drawing/2014/main" val="20000"/>
                    </a:ext>
                  </a:extLst>
                </a:gridCol>
                <a:gridCol w="4089300">
                  <a:extLst>
                    <a:ext uri="{9D8B030D-6E8A-4147-A177-3AD203B41FA5}">
                      <a16:colId xmlns:a16="http://schemas.microsoft.com/office/drawing/2014/main" val="20001"/>
                    </a:ext>
                  </a:extLst>
                </a:gridCol>
                <a:gridCol w="5033925">
                  <a:extLst>
                    <a:ext uri="{9D8B030D-6E8A-4147-A177-3AD203B41FA5}">
                      <a16:colId xmlns:a16="http://schemas.microsoft.com/office/drawing/2014/main" val="20002"/>
                    </a:ext>
                  </a:extLst>
                </a:gridCol>
              </a:tblGrid>
              <a:tr h="5544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SL.No</a:t>
                      </a: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List of Documents</a:t>
                      </a: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Status ( Provide the drive link of prepared document)</a:t>
                      </a: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544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1</a:t>
                      </a:r>
                      <a:endParaRPr sz="18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2" indent="0" algn="l" rtl="0">
                        <a:lnSpc>
                          <a:spcPct val="100000"/>
                        </a:lnSpc>
                        <a:spcBef>
                          <a:spcPts val="0"/>
                        </a:spcBef>
                        <a:spcAft>
                          <a:spcPts val="0"/>
                        </a:spcAft>
                        <a:buClr>
                          <a:srgbClr val="7030A0"/>
                        </a:buClr>
                        <a:buSzPts val="2400"/>
                        <a:buFont typeface="Calibri"/>
                        <a:buNone/>
                      </a:pPr>
                      <a:r>
                        <a:rPr lang="en-US" sz="2400">
                          <a:solidFill>
                            <a:srgbClr val="7030A0"/>
                          </a:solidFill>
                        </a:rPr>
                        <a:t>Report</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100" b="0" i="0" u="sng" strike="noStrike" cap="none" dirty="0">
                          <a:solidFill>
                            <a:schemeClr val="dk1"/>
                          </a:solidFill>
                          <a:latin typeface="Calibri"/>
                          <a:ea typeface="Calibri"/>
                          <a:cs typeface="Calibri"/>
                          <a:sym typeface="Calibri"/>
                        </a:rPr>
                        <a:t>https://docs.google.com/document/d/1KpDR63szDRqAPRUNEmtQ22xKZ7OCHZV_/edit?usp=drive_link&amp;ouid=114067039500288003827&amp;rtpof=true&amp;sd=true</a:t>
                      </a:r>
                      <a:br>
                        <a:rPr lang="en-US" sz="1100" u="none" strike="noStrike" cap="none" dirty="0"/>
                      </a:br>
                      <a:endParaRPr sz="1000" u="none" strike="noStrike" cap="none"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5"/>
          <p:cNvSpPr txBox="1">
            <a:spLocks noGrp="1"/>
          </p:cNvSpPr>
          <p:nvPr>
            <p:ph type="body" idx="1"/>
          </p:nvPr>
        </p:nvSpPr>
        <p:spPr>
          <a:xfrm>
            <a:off x="838200" y="911514"/>
            <a:ext cx="10677211" cy="5278271"/>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rgbClr val="C00000"/>
              </a:buClr>
              <a:buSzPts val="2400"/>
              <a:buNone/>
            </a:pPr>
            <a:r>
              <a:rPr lang="en-US" sz="2400" dirty="0">
                <a:solidFill>
                  <a:srgbClr val="C00000"/>
                </a:solidFill>
              </a:rPr>
              <a:t>Journal </a:t>
            </a:r>
          </a:p>
          <a:p>
            <a:pPr algn="just">
              <a:lnSpc>
                <a:spcPct val="110000"/>
              </a:lnSpc>
              <a:spcAft>
                <a:spcPts val="800"/>
              </a:spcAft>
            </a:pPr>
            <a:r>
              <a:rPr lang="en-IN" sz="1800"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[1] Amin, Sujit, et al. "Web application for screening resume." </a:t>
            </a:r>
            <a:r>
              <a:rPr lang="en-IN" sz="1800" i="1"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2019 International Conference on Nascent Technologies in Engineering (ICNTE)</a:t>
            </a:r>
            <a:r>
              <a:rPr lang="en-IN" sz="1800"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 IEEE, 2019.</a:t>
            </a:r>
            <a:endParaRPr lang="en-IN" sz="1800" kern="100" dirty="0">
              <a:effectLst/>
              <a:latin typeface="Calibri" panose="020F0502020204030204" pitchFamily="34" charset="0"/>
              <a:ea typeface="Calibri" panose="020F0502020204030204" pitchFamily="34" charset="0"/>
              <a:cs typeface="Latha" panose="020B0604020202020204" pitchFamily="34" charset="0"/>
            </a:endParaRPr>
          </a:p>
          <a:p>
            <a:pPr algn="just">
              <a:lnSpc>
                <a:spcPct val="110000"/>
              </a:lnSpc>
              <a:spcAft>
                <a:spcPts val="800"/>
              </a:spcAft>
            </a:pPr>
            <a:r>
              <a:rPr lang="en-IN" sz="1800"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[2] </a:t>
            </a:r>
            <a:r>
              <a:rPr lang="en-IN" sz="1800" kern="100" dirty="0" err="1">
                <a:solidFill>
                  <a:srgbClr val="222222"/>
                </a:solidFill>
                <a:effectLst/>
                <a:latin typeface="Times New Roman" panose="02020603050405020304" pitchFamily="18" charset="0"/>
                <a:ea typeface="Calibri" panose="020F0502020204030204" pitchFamily="34" charset="0"/>
                <a:cs typeface="Latha" panose="020B0604020202020204" pitchFamily="34" charset="0"/>
              </a:rPr>
              <a:t>Daryani</a:t>
            </a:r>
            <a:r>
              <a:rPr lang="en-IN" sz="1800"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 Chirag, et al. "An automated resume screening system using natural language processing and similarity." </a:t>
            </a:r>
            <a:r>
              <a:rPr lang="en-IN" sz="1800" i="1"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ETHICS AND INFORMATION TECHNOLOGY [Internet]. VOLKSON PRESS</a:t>
            </a:r>
            <a:r>
              <a:rPr lang="en-IN" sz="1800"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 (2020): 99-103.</a:t>
            </a:r>
            <a:endParaRPr lang="en-IN" sz="1800" kern="100" dirty="0">
              <a:effectLst/>
              <a:latin typeface="Calibri" panose="020F0502020204030204" pitchFamily="34" charset="0"/>
              <a:ea typeface="Calibri" panose="020F0502020204030204" pitchFamily="34" charset="0"/>
              <a:cs typeface="Latha" panose="020B0604020202020204" pitchFamily="34" charset="0"/>
            </a:endParaRPr>
          </a:p>
          <a:p>
            <a:pPr algn="just">
              <a:lnSpc>
                <a:spcPct val="110000"/>
              </a:lnSpc>
              <a:spcAft>
                <a:spcPts val="800"/>
              </a:spcAft>
            </a:pPr>
            <a:r>
              <a:rPr lang="en-IN" sz="1800"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[3] Singh, Amit, et al. "PROSPECT: a system for screening candidates for recruitment." </a:t>
            </a:r>
            <a:r>
              <a:rPr lang="en-IN" sz="1800" i="1"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Proceedings of the 19th ACM international conference on Information and knowledge management</a:t>
            </a:r>
            <a:r>
              <a:rPr lang="en-IN" sz="1800"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 2010.</a:t>
            </a:r>
            <a:endParaRPr lang="en-IN" sz="1800" kern="100" dirty="0">
              <a:effectLst/>
              <a:latin typeface="Calibri" panose="020F0502020204030204" pitchFamily="34" charset="0"/>
              <a:ea typeface="Calibri" panose="020F0502020204030204" pitchFamily="34" charset="0"/>
              <a:cs typeface="Latha" panose="020B0604020202020204" pitchFamily="34" charset="0"/>
            </a:endParaRPr>
          </a:p>
          <a:p>
            <a:pPr algn="just">
              <a:lnSpc>
                <a:spcPct val="110000"/>
              </a:lnSpc>
              <a:spcAft>
                <a:spcPts val="800"/>
              </a:spcAft>
            </a:pPr>
            <a:r>
              <a:rPr lang="en-IN" sz="1800"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[4] </a:t>
            </a:r>
            <a:r>
              <a:rPr lang="en-IN" sz="1800" kern="100" dirty="0" err="1">
                <a:solidFill>
                  <a:srgbClr val="222222"/>
                </a:solidFill>
                <a:effectLst/>
                <a:latin typeface="Times New Roman" panose="02020603050405020304" pitchFamily="18" charset="0"/>
                <a:ea typeface="Calibri" panose="020F0502020204030204" pitchFamily="34" charset="0"/>
                <a:cs typeface="Latha" panose="020B0604020202020204" pitchFamily="34" charset="0"/>
              </a:rPr>
              <a:t>Tijare</a:t>
            </a:r>
            <a:r>
              <a:rPr lang="en-IN" sz="1800"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 Poonam, et al. "A smart resume screening tool for customized shortlisting." </a:t>
            </a:r>
            <a:r>
              <a:rPr lang="en-IN" sz="1800" i="1"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ITM Web of Conferences</a:t>
            </a:r>
            <a:r>
              <a:rPr lang="en-IN" sz="1800"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 Vol. 56. EDP Sciences, 2023.</a:t>
            </a:r>
          </a:p>
          <a:p>
            <a:pPr algn="just">
              <a:lnSpc>
                <a:spcPct val="110000"/>
              </a:lnSpc>
              <a:spcAft>
                <a:spcPts val="800"/>
              </a:spcAft>
            </a:pPr>
            <a:r>
              <a:rPr lang="en-IN" sz="1800" kern="100" dirty="0">
                <a:solidFill>
                  <a:srgbClr val="222222"/>
                </a:solidFill>
                <a:latin typeface="Times New Roman" panose="02020603050405020304" pitchFamily="18" charset="0"/>
                <a:ea typeface="Calibri" panose="020F0502020204030204" pitchFamily="34" charset="0"/>
                <a:cs typeface="Latha" panose="020B0604020202020204" pitchFamily="34" charset="0"/>
              </a:rPr>
              <a:t>[5</a:t>
            </a:r>
            <a:r>
              <a:rPr lang="en-IN" sz="1800"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 Arora, Sunaina, and Neeraj Kumari. "Recruitment search engines for screening resumes through AI by using </a:t>
            </a:r>
            <a:r>
              <a:rPr lang="en-IN" sz="1800" kern="100" dirty="0" err="1">
                <a:solidFill>
                  <a:srgbClr val="222222"/>
                </a:solidFill>
                <a:effectLst/>
                <a:latin typeface="Times New Roman" panose="02020603050405020304" pitchFamily="18" charset="0"/>
                <a:ea typeface="Calibri" panose="020F0502020204030204" pitchFamily="34" charset="0"/>
                <a:cs typeface="Latha" panose="020B0604020202020204" pitchFamily="34" charset="0"/>
              </a:rPr>
              <a:t>boolean</a:t>
            </a:r>
            <a:r>
              <a:rPr lang="en-IN" sz="1800"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 search functions." </a:t>
            </a:r>
            <a:r>
              <a:rPr lang="en-IN" sz="1800" i="1"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Journal of Asian Development</a:t>
            </a:r>
            <a:r>
              <a:rPr lang="en-IN" sz="1800"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 7.2 (2021): 16-26.</a:t>
            </a:r>
            <a:endParaRPr lang="en-IN" sz="1800" kern="100" dirty="0">
              <a:effectLst/>
              <a:latin typeface="Calibri" panose="020F0502020204030204" pitchFamily="34" charset="0"/>
              <a:ea typeface="Calibri" panose="020F0502020204030204" pitchFamily="34" charset="0"/>
              <a:cs typeface="Latha" panose="020B0604020202020204" pitchFamily="34" charset="0"/>
            </a:endParaRPr>
          </a:p>
          <a:p>
            <a:pPr algn="just">
              <a:lnSpc>
                <a:spcPct val="110000"/>
              </a:lnSpc>
              <a:spcAft>
                <a:spcPts val="800"/>
              </a:spcAft>
            </a:pPr>
            <a:r>
              <a:rPr lang="en-IN" sz="1800"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[6] </a:t>
            </a:r>
            <a:r>
              <a:rPr lang="en-IN" sz="1800" kern="100" dirty="0" err="1">
                <a:solidFill>
                  <a:srgbClr val="222222"/>
                </a:solidFill>
                <a:effectLst/>
                <a:latin typeface="Times New Roman" panose="02020603050405020304" pitchFamily="18" charset="0"/>
                <a:ea typeface="Calibri" panose="020F0502020204030204" pitchFamily="34" charset="0"/>
                <a:cs typeface="Latha" panose="020B0604020202020204" pitchFamily="34" charset="0"/>
              </a:rPr>
              <a:t>Jivtode</a:t>
            </a:r>
            <a:r>
              <a:rPr lang="en-IN" sz="1800"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 </a:t>
            </a:r>
            <a:r>
              <a:rPr lang="en-IN" sz="1800" kern="100" dirty="0" err="1">
                <a:solidFill>
                  <a:srgbClr val="222222"/>
                </a:solidFill>
                <a:effectLst/>
                <a:latin typeface="Times New Roman" panose="02020603050405020304" pitchFamily="18" charset="0"/>
                <a:ea typeface="Calibri" panose="020F0502020204030204" pitchFamily="34" charset="0"/>
                <a:cs typeface="Latha" panose="020B0604020202020204" pitchFamily="34" charset="0"/>
              </a:rPr>
              <a:t>Alkeshwar</a:t>
            </a:r>
            <a:r>
              <a:rPr lang="en-IN" sz="1800" kern="100" dirty="0">
                <a:solidFill>
                  <a:srgbClr val="222222"/>
                </a:solidFill>
                <a:effectLst/>
                <a:latin typeface="Times New Roman" panose="02020603050405020304" pitchFamily="18" charset="0"/>
                <a:ea typeface="Calibri" panose="020F0502020204030204" pitchFamily="34" charset="0"/>
                <a:cs typeface="Latha" panose="020B0604020202020204" pitchFamily="34" charset="0"/>
              </a:rPr>
              <a:t>, Kisan Jadhav, and Dipali Kandhare. "RESUME ANALYSIS USING MACHINE LEARNING AND NATURAL LANGUAGE PROCESSING."</a:t>
            </a:r>
            <a:endParaRPr lang="en-IN" sz="1800" kern="100" dirty="0">
              <a:effectLst/>
              <a:latin typeface="Calibri" panose="020F0502020204030204" pitchFamily="34" charset="0"/>
              <a:ea typeface="Calibri" panose="020F0502020204030204" pitchFamily="34" charset="0"/>
              <a:cs typeface="Latha" panose="020B0604020202020204" pitchFamily="34" charset="0"/>
            </a:endParaRPr>
          </a:p>
          <a:p>
            <a:pPr algn="just">
              <a:lnSpc>
                <a:spcPct val="115000"/>
              </a:lnSpc>
              <a:spcAft>
                <a:spcPts val="800"/>
              </a:spcAft>
            </a:pPr>
            <a:endParaRPr lang="en-IN" sz="1800" kern="100" dirty="0">
              <a:effectLst/>
              <a:latin typeface="Calibri" panose="020F0502020204030204" pitchFamily="34" charset="0"/>
              <a:ea typeface="Calibri" panose="020F0502020204030204" pitchFamily="34" charset="0"/>
              <a:cs typeface="Latha" panose="020B0604020202020204" pitchFamily="34" charset="0"/>
            </a:endParaRPr>
          </a:p>
        </p:txBody>
      </p:sp>
      <p:sp>
        <p:nvSpPr>
          <p:cNvPr id="226" name="Google Shape;226;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05-08-2023</a:t>
            </a:r>
            <a:endParaRPr/>
          </a:p>
        </p:txBody>
      </p:sp>
      <p:sp>
        <p:nvSpPr>
          <p:cNvPr id="227" name="Google Shape;22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FIRST REVIEW PRESENTATION</a:t>
            </a:r>
            <a:endParaRPr/>
          </a:p>
        </p:txBody>
      </p:sp>
      <p:sp>
        <p:nvSpPr>
          <p:cNvPr id="228" name="Google Shape;228;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229" name="Google Shape;229;p25"/>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70C0"/>
              </a:buClr>
              <a:buSzPts val="2400"/>
              <a:buFont typeface="Cambria"/>
              <a:buNone/>
            </a:pPr>
            <a:r>
              <a:rPr lang="en-US" sz="2400" b="1">
                <a:solidFill>
                  <a:srgbClr val="0070C0"/>
                </a:solidFill>
                <a:latin typeface="Cambria"/>
                <a:ea typeface="Cambria"/>
                <a:cs typeface="Cambria"/>
                <a:sym typeface="Cambria"/>
              </a:rPr>
              <a:t>REFERENCES</a:t>
            </a:r>
            <a:br>
              <a:rPr lang="en-US" sz="2400" b="1">
                <a:solidFill>
                  <a:srgbClr val="0070C0"/>
                </a:solidFill>
                <a:latin typeface="Cambria"/>
                <a:ea typeface="Cambria"/>
                <a:cs typeface="Cambria"/>
                <a:sym typeface="Cambria"/>
              </a:rPr>
            </a:br>
            <a:r>
              <a:rPr lang="en-US" sz="1800" b="1">
                <a:solidFill>
                  <a:srgbClr val="00B050"/>
                </a:solidFill>
                <a:latin typeface="Cambria"/>
                <a:ea typeface="Cambria"/>
                <a:cs typeface="Cambria"/>
                <a:sym typeface="Cambria"/>
              </a:rPr>
              <a:t>( Journal Papers/ Books / Website in IEEE Format )</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1236</Words>
  <Application>Microsoft Office PowerPoint</Application>
  <PresentationFormat>Widescreen</PresentationFormat>
  <Paragraphs>169</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Book Antiqua</vt:lpstr>
      <vt:lpstr>Calibri</vt:lpstr>
      <vt:lpstr>Cambria</vt:lpstr>
      <vt:lpstr>Symbol</vt:lpstr>
      <vt:lpstr>Times New Roman</vt:lpstr>
      <vt:lpstr>Office Theme</vt:lpstr>
      <vt:lpstr>Academic Year 2023 - 24  S5 MINI PROJECT WORK  First Review </vt:lpstr>
      <vt:lpstr>LITERATURE SURVEY </vt:lpstr>
      <vt:lpstr>AIM &amp; OBJECTIVES OF THE PROJECT  (Problem Statement)</vt:lpstr>
      <vt:lpstr>SCOPE OF THE PROJECT</vt:lpstr>
      <vt:lpstr>NEED FOR THE CURRENT STUDY </vt:lpstr>
      <vt:lpstr>PROPOSED METHODOLOGY ( Flow Chart) </vt:lpstr>
      <vt:lpstr>PROPOSED METHODOLOGY ( Gantt Chart) </vt:lpstr>
      <vt:lpstr>CHOICE  OF  COMPONENTS  /  MODULES  / METHODS/TECHNIQUES  EQUIPMENT  USED FOR  PROJECT DEVELOPMENT </vt:lpstr>
      <vt:lpstr>CHOICE  OF  COMPONENTS  /  MODULES  / METHODS/TECHNIQUES  EQUIPMENT  USED FOR  PROJECT DEVELOPMENT </vt:lpstr>
      <vt:lpstr>DESIGN(S) (HARDWARE) </vt:lpstr>
      <vt:lpstr>DESIGN(S) (SOFTWARE ARCHITECTURE) </vt:lpstr>
      <vt:lpstr>DESIGN(S) (HARDWARE / SOFTWARE ARCHITECTURE) </vt:lpstr>
      <vt:lpstr>INDIVIDUAL CONTRIBUTIONS TO THE WORK </vt:lpstr>
      <vt:lpstr>PLAN FOR PUBLICATIONS</vt:lpstr>
      <vt:lpstr>Status on Partial Completion and Submission of Project Report</vt:lpstr>
      <vt:lpstr>REFERENCES ( Journal Papers/ Books / Website in IEEE Format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Year 2023 - 24  S5 MINI PROJECT WORK  First Review </dc:title>
  <dc:creator>TRC</dc:creator>
  <cp:lastModifiedBy>Akshaya R</cp:lastModifiedBy>
  <cp:revision>5</cp:revision>
  <dcterms:created xsi:type="dcterms:W3CDTF">2023-07-14T12:21:17Z</dcterms:created>
  <dcterms:modified xsi:type="dcterms:W3CDTF">2023-12-05T05:33:17Z</dcterms:modified>
</cp:coreProperties>
</file>