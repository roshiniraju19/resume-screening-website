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56" r:id="rId2"/>
    <p:sldId id="257" r:id="rId3"/>
    <p:sldId id="259" r:id="rId4"/>
    <p:sldId id="260" r:id="rId5"/>
    <p:sldId id="261" r:id="rId6"/>
    <p:sldId id="262" r:id="rId7"/>
    <p:sldId id="286" r:id="rId8"/>
    <p:sldId id="263" r:id="rId9"/>
    <p:sldId id="264" r:id="rId10"/>
    <p:sldId id="280" r:id="rId11"/>
    <p:sldId id="281" r:id="rId12"/>
    <p:sldId id="283" r:id="rId13"/>
    <p:sldId id="285"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M6GGkvUik4lnc9hnsdAcZTm9A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449644-3E62-498B-B504-06F7A96C45BB}">
  <a:tblStyle styleId="{B5449644-3E62-498B-B504-06F7A96C45B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AC42FB97-1F24-4AB7-AFA3-264A4820F154}"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7" autoAdjust="0"/>
    <p:restoredTop sz="94660"/>
  </p:normalViewPr>
  <p:slideViewPr>
    <p:cSldViewPr snapToGrid="0">
      <p:cViewPr varScale="1">
        <p:scale>
          <a:sx n="78" d="100"/>
          <a:sy n="78" d="100"/>
        </p:scale>
        <p:origin x="706"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9" Type="http://schemas.openxmlformats.org/officeDocument/2006/relationships/presProps" Target="presProps.xml"/><Relationship Id="rId3" Type="http://schemas.openxmlformats.org/officeDocument/2006/relationships/slide" Target="slides/slide2.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38" Type="http://customschemas.google.com/relationships/presentationmetadata" Target="metadata"/><Relationship Id="rId2" Type="http://schemas.openxmlformats.org/officeDocument/2006/relationships/slide" Target="slides/slide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768972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049a14a477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g1049a14a477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dd278f29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g10dd278f29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a:t>End of saru part</a:t>
            </a:r>
            <a:endParaRPr/>
          </a:p>
        </p:txBody>
      </p:sp>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a:t>saru</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0dd278f294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83185" lvl="0" indent="0" algn="just" rtl="0">
              <a:lnSpc>
                <a:spcPct val="150000"/>
              </a:lnSpc>
              <a:spcBef>
                <a:spcPts val="0"/>
              </a:spcBef>
              <a:spcAft>
                <a:spcPts val="0"/>
              </a:spcAft>
              <a:buClr>
                <a:schemeClr val="dk1"/>
              </a:buClr>
              <a:buSzPts val="1100"/>
              <a:buFont typeface="Arial"/>
              <a:buNone/>
            </a:pPr>
            <a:endParaRPr sz="1400">
              <a:latin typeface="Times New Roman"/>
              <a:ea typeface="Times New Roman"/>
              <a:cs typeface="Times New Roman"/>
              <a:sym typeface="Times New Roman"/>
            </a:endParaRPr>
          </a:p>
          <a:p>
            <a:pPr marL="0" lvl="0" indent="0" algn="l" rtl="0">
              <a:spcBef>
                <a:spcPts val="0"/>
              </a:spcBef>
              <a:spcAft>
                <a:spcPts val="0"/>
              </a:spcAft>
              <a:buClr>
                <a:schemeClr val="dk1"/>
              </a:buClr>
              <a:buSzPts val="1400"/>
              <a:buFont typeface="Arial"/>
              <a:buNone/>
            </a:pPr>
            <a:endParaRPr/>
          </a:p>
          <a:p>
            <a:pPr marL="0" lvl="0" indent="0" algn="l" rtl="0">
              <a:spcBef>
                <a:spcPts val="0"/>
              </a:spcBef>
              <a:spcAft>
                <a:spcPts val="0"/>
              </a:spcAft>
              <a:buClr>
                <a:schemeClr val="dk1"/>
              </a:buClr>
              <a:buSzPts val="1400"/>
              <a:buFont typeface="Arial"/>
              <a:buNone/>
            </a:pPr>
            <a:endParaRPr/>
          </a:p>
          <a:p>
            <a:pPr marL="0" lvl="0" indent="0" algn="l" rtl="0">
              <a:lnSpc>
                <a:spcPct val="100000"/>
              </a:lnSpc>
              <a:spcBef>
                <a:spcPts val="0"/>
              </a:spcBef>
              <a:spcAft>
                <a:spcPts val="0"/>
              </a:spcAft>
              <a:buSzPts val="1400"/>
              <a:buNone/>
            </a:pPr>
            <a:endParaRPr/>
          </a:p>
        </p:txBody>
      </p:sp>
      <p:sp>
        <p:nvSpPr>
          <p:cNvPr id="347" name="Google Shape;347;g10dd278f294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103337bfcf5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103337bfcf5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E9C1210A-93B3-4F23-9EC7-FE6B4F8416A6}" type="datetime5">
              <a:rPr lang="en-US" smtClean="0"/>
              <a:t>4-Dec-23</a:t>
            </a:fld>
            <a:endParaRPr/>
          </a:p>
        </p:txBody>
      </p:sp>
      <p:sp>
        <p:nvSpPr>
          <p:cNvPr id="19" name="Google Shape;1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20" name="Google Shape;2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1" name="Google Shape;21;p15"/>
          <p:cNvPicPr preferRelativeResize="0"/>
          <p:nvPr/>
        </p:nvPicPr>
        <p:blipFill rotWithShape="1">
          <a:blip r:embed="rId2">
            <a:alphaModFix/>
          </a:blip>
          <a:srcRect/>
          <a:stretch/>
        </p:blipFill>
        <p:spPr>
          <a:xfrm>
            <a:off x="0" y="0"/>
            <a:ext cx="1101347" cy="10642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F69C973-F45C-4F50-B341-CA626952F065}" type="datetime5">
              <a:rPr lang="en-US" smtClean="0"/>
              <a:t>4-Dec-23</a:t>
            </a:fld>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8" name="Google Shape;28;p16"/>
          <p:cNvPicPr preferRelativeResize="0"/>
          <p:nvPr/>
        </p:nvPicPr>
        <p:blipFill rotWithShape="1">
          <a:blip r:embed="rId2">
            <a:alphaModFix/>
          </a:blip>
          <a:srcRect/>
          <a:stretch/>
        </p:blipFill>
        <p:spPr>
          <a:xfrm>
            <a:off x="0" y="0"/>
            <a:ext cx="1101347" cy="10642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5274D82F-F709-4368-AFE0-EBCE341C8A2A}" type="datetime5">
              <a:rPr lang="en-US" smtClean="0"/>
              <a:t>4-Dec-23</a:t>
            </a:fld>
            <a:endParaRPr/>
          </a:p>
        </p:txBody>
      </p:sp>
      <p:sp>
        <p:nvSpPr>
          <p:cNvPr id="33" name="Google Shape;3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34" name="Google Shape;3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26136C0-AB84-493F-8B0C-D2458AE3DA2A}" type="datetime5">
              <a:rPr lang="en-US" smtClean="0"/>
              <a:t>4-Dec-23</a:t>
            </a:fld>
            <a:endParaRPr/>
          </a:p>
        </p:txBody>
      </p:sp>
      <p:sp>
        <p:nvSpPr>
          <p:cNvPr id="40" name="Google Shape;4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41" name="Google Shape;4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4F886D3-4604-48CD-AA45-9BC972094430}" type="datetime5">
              <a:rPr lang="en-US" smtClean="0"/>
              <a:t>4-Dec-23</a:t>
            </a:fld>
            <a:endParaRPr/>
          </a:p>
        </p:txBody>
      </p:sp>
      <p:sp>
        <p:nvSpPr>
          <p:cNvPr id="49" name="Google Shape;4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50" name="Google Shape;5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AAD03ACB-350B-4B93-885E-B14F684781CF}" type="datetime5">
              <a:rPr lang="en-US" smtClean="0"/>
              <a:t>4-Dec-23</a:t>
            </a:fld>
            <a:endParaRPr/>
          </a:p>
        </p:txBody>
      </p:sp>
      <p:sp>
        <p:nvSpPr>
          <p:cNvPr id="54" name="Google Shape;5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55" name="Google Shape;5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D04AECC-CAD1-4F0B-AEC1-6152966CA084}" type="datetime5">
              <a:rPr lang="en-US" smtClean="0"/>
              <a:t>4-Dec-23</a:t>
            </a:fld>
            <a:endParaRPr/>
          </a:p>
        </p:txBody>
      </p:sp>
      <p:sp>
        <p:nvSpPr>
          <p:cNvPr id="65" name="Google Shape;6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66" name="Google Shape;6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3"/>
          <p:cNvSpPr>
            <a:spLocks noGrp="1"/>
          </p:cNvSpPr>
          <p:nvPr>
            <p:ph type="pic" idx="2"/>
          </p:nvPr>
        </p:nvSpPr>
        <p:spPr>
          <a:xfrm>
            <a:off x="5183188" y="987425"/>
            <a:ext cx="6172200" cy="4873625"/>
          </a:xfrm>
          <a:prstGeom prst="rect">
            <a:avLst/>
          </a:prstGeom>
          <a:noFill/>
          <a:ln>
            <a:noFill/>
          </a:ln>
        </p:spPr>
      </p:sp>
      <p:sp>
        <p:nvSpPr>
          <p:cNvPr id="70" name="Google Shape;70;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B64A2CA-3462-463A-B6B2-86CD6D21EC32}" type="datetime5">
              <a:rPr lang="en-US" smtClean="0"/>
              <a:t>4-Dec-23</a:t>
            </a:fld>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D646184-987D-4CE8-BE4B-1E396C89B32C}" type="datetime5">
              <a:rPr lang="en-US" smtClean="0"/>
              <a:t>4-Dec-23</a:t>
            </a:fld>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70B1C7E-3FEB-4F32-B55A-D858DAA7E206}" type="datetime5">
              <a:rPr lang="en-US" smtClean="0"/>
              <a:t>4-Dec-23</a:t>
            </a:fld>
            <a:endParaRPr/>
          </a:p>
        </p:txBody>
      </p:sp>
      <p:sp>
        <p:nvSpPr>
          <p:cNvPr id="84" name="Google Shape;8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21CB508</a:t>
            </a:r>
            <a:endParaRPr/>
          </a:p>
        </p:txBody>
      </p:sp>
      <p:sp>
        <p:nvSpPr>
          <p:cNvPr id="85" name="Google Shape;8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fld id="{10385B8C-DABD-44B0-B131-624BB0021189}" type="datetime5">
              <a:rPr lang="en-US" smtClean="0"/>
              <a:t>4-Dec-23</a:t>
            </a:fld>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IN"/>
              <a:t>21CB508</a:t>
            </a:r>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g1049a14a477_1_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92" name="Google Shape;92;g1049a14a477_1_3"/>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1</a:t>
            </a:fld>
            <a:endParaRPr sz="1300" b="1">
              <a:latin typeface="Times New Roman"/>
              <a:ea typeface="Times New Roman"/>
              <a:cs typeface="Times New Roman"/>
              <a:sym typeface="Times New Roman"/>
            </a:endParaRPr>
          </a:p>
        </p:txBody>
      </p:sp>
      <p:sp>
        <p:nvSpPr>
          <p:cNvPr id="93" name="Google Shape;93;g1049a14a477_1_3"/>
          <p:cNvSpPr txBox="1"/>
          <p:nvPr/>
        </p:nvSpPr>
        <p:spPr>
          <a:xfrm>
            <a:off x="950100" y="1210100"/>
            <a:ext cx="10291800" cy="1231076"/>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400"/>
              <a:buFont typeface="Arial"/>
              <a:buNone/>
            </a:pPr>
            <a:r>
              <a:rPr lang="en-IN" sz="3400" b="1" dirty="0">
                <a:latin typeface="Times New Roman"/>
                <a:ea typeface="Times New Roman"/>
                <a:cs typeface="Times New Roman"/>
                <a:sym typeface="Times New Roman"/>
              </a:rPr>
              <a:t>CAREER CRAFTER</a:t>
            </a:r>
          </a:p>
          <a:p>
            <a:pPr marL="0" marR="0" lvl="0" indent="0" algn="ctr" rtl="0">
              <a:lnSpc>
                <a:spcPct val="100000"/>
              </a:lnSpc>
              <a:spcBef>
                <a:spcPts val="0"/>
              </a:spcBef>
              <a:spcAft>
                <a:spcPts val="0"/>
              </a:spcAft>
              <a:buClr>
                <a:srgbClr val="000000"/>
              </a:buClr>
              <a:buSzPts val="3400"/>
              <a:buFont typeface="Arial"/>
              <a:buNone/>
            </a:pPr>
            <a:r>
              <a:rPr lang="en-IN" sz="3400" b="1" dirty="0">
                <a:latin typeface="Times New Roman"/>
                <a:ea typeface="Times New Roman"/>
                <a:cs typeface="Times New Roman"/>
                <a:sym typeface="Times New Roman"/>
              </a:rPr>
              <a:t>- </a:t>
            </a:r>
            <a:r>
              <a:rPr lang="en-IN" sz="2000" b="1" i="1" dirty="0">
                <a:latin typeface="Times New Roman"/>
                <a:ea typeface="Times New Roman"/>
                <a:cs typeface="Times New Roman"/>
                <a:sym typeface="Times New Roman"/>
              </a:rPr>
              <a:t>A RESUME SCREENING WEBSITE</a:t>
            </a:r>
            <a:endParaRPr sz="3400" b="1" i="1" u="none" strike="noStrike" cap="none" dirty="0">
              <a:solidFill>
                <a:srgbClr val="000000"/>
              </a:solidFill>
              <a:latin typeface="Times New Roman"/>
              <a:ea typeface="Times New Roman"/>
              <a:cs typeface="Times New Roman"/>
              <a:sym typeface="Times New Roman"/>
            </a:endParaRPr>
          </a:p>
        </p:txBody>
      </p:sp>
      <p:sp>
        <p:nvSpPr>
          <p:cNvPr id="94" name="Google Shape;94;g1049a14a477_1_3"/>
          <p:cNvSpPr txBox="1"/>
          <p:nvPr/>
        </p:nvSpPr>
        <p:spPr>
          <a:xfrm>
            <a:off x="1271600" y="2581726"/>
            <a:ext cx="96156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graphicFrame>
        <p:nvGraphicFramePr>
          <p:cNvPr id="95" name="Google Shape;95;g1049a14a477_1_3"/>
          <p:cNvGraphicFramePr/>
          <p:nvPr>
            <p:extLst>
              <p:ext uri="{D42A27DB-BD31-4B8C-83A1-F6EECF244321}">
                <p14:modId xmlns:p14="http://schemas.microsoft.com/office/powerpoint/2010/main" val="3224403714"/>
              </p:ext>
            </p:extLst>
          </p:nvPr>
        </p:nvGraphicFramePr>
        <p:xfrm>
          <a:off x="962025" y="2581726"/>
          <a:ext cx="10267950" cy="2956125"/>
        </p:xfrm>
        <a:graphic>
          <a:graphicData uri="http://schemas.openxmlformats.org/drawingml/2006/table">
            <a:tbl>
              <a:tblPr>
                <a:noFill/>
                <a:tableStyleId>{B5449644-3E62-498B-B504-06F7A96C45BB}</a:tableStyleId>
              </a:tblPr>
              <a:tblGrid>
                <a:gridCol w="6286500">
                  <a:extLst>
                    <a:ext uri="{9D8B030D-6E8A-4147-A177-3AD203B41FA5}">
                      <a16:colId xmlns:a16="http://schemas.microsoft.com/office/drawing/2014/main" val="20000"/>
                    </a:ext>
                  </a:extLst>
                </a:gridCol>
                <a:gridCol w="3981450">
                  <a:extLst>
                    <a:ext uri="{9D8B030D-6E8A-4147-A177-3AD203B41FA5}">
                      <a16:colId xmlns:a16="http://schemas.microsoft.com/office/drawing/2014/main" val="20001"/>
                    </a:ext>
                  </a:extLst>
                </a:gridCol>
              </a:tblGrid>
              <a:tr h="457200">
                <a:tc>
                  <a:txBody>
                    <a:bodyPr/>
                    <a:lstStyle/>
                    <a:p>
                      <a:pPr marL="0" marR="0" lvl="0" indent="0" algn="l" rtl="0">
                        <a:lnSpc>
                          <a:spcPct val="115000"/>
                        </a:lnSpc>
                        <a:spcBef>
                          <a:spcPts val="0"/>
                        </a:spcBef>
                        <a:spcAft>
                          <a:spcPts val="0"/>
                        </a:spcAft>
                        <a:buClr>
                          <a:srgbClr val="000000"/>
                        </a:buClr>
                        <a:buSzPts val="2600"/>
                        <a:buFont typeface="Arial"/>
                        <a:buNone/>
                      </a:pPr>
                      <a:r>
                        <a:rPr lang="en-IN" sz="2600" b="1" u="none" strike="noStrike" cap="none" dirty="0">
                          <a:latin typeface="Times New Roman"/>
                          <a:ea typeface="Times New Roman"/>
                          <a:cs typeface="Times New Roman"/>
                          <a:sym typeface="Times New Roman"/>
                        </a:rPr>
                        <a:t>Presented by:</a:t>
                      </a:r>
                      <a:endParaRPr sz="26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2600"/>
                        <a:buFont typeface="Arial"/>
                        <a:buNone/>
                      </a:pPr>
                      <a:r>
                        <a:rPr lang="en-IN" sz="2600" b="1" u="none" strike="noStrike" cap="none">
                          <a:latin typeface="Times New Roman"/>
                          <a:ea typeface="Times New Roman"/>
                          <a:cs typeface="Times New Roman"/>
                          <a:sym typeface="Times New Roman"/>
                        </a:rPr>
                        <a:t>Guided by:</a:t>
                      </a:r>
                      <a:endParaRPr sz="26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457200">
                <a:tc>
                  <a:txBody>
                    <a:bodyPr/>
                    <a:lstStyle/>
                    <a:p>
                      <a:pPr marL="0" marR="0" lvl="0" indent="0" algn="l" rtl="0">
                        <a:lnSpc>
                          <a:spcPct val="115000"/>
                        </a:lnSpc>
                        <a:spcBef>
                          <a:spcPts val="0"/>
                        </a:spcBef>
                        <a:spcAft>
                          <a:spcPts val="0"/>
                        </a:spcAft>
                        <a:buClr>
                          <a:srgbClr val="000000"/>
                        </a:buClr>
                        <a:buSzPts val="2400"/>
                        <a:buFont typeface="Arial"/>
                        <a:buNone/>
                      </a:pPr>
                      <a:r>
                        <a:rPr lang="en-IN" sz="2000" u="none" strike="noStrike" cap="none" dirty="0">
                          <a:latin typeface="Times New Roman"/>
                          <a:ea typeface="Times New Roman"/>
                          <a:cs typeface="Times New Roman"/>
                          <a:sym typeface="Times New Roman"/>
                        </a:rPr>
                        <a:t>1. ROSHINI R, 7376212CB140, CSBS</a:t>
                      </a:r>
                    </a:p>
                    <a:p>
                      <a:pPr marL="0" marR="0" lvl="0" indent="0" algn="l" rtl="0">
                        <a:lnSpc>
                          <a:spcPct val="115000"/>
                        </a:lnSpc>
                        <a:spcBef>
                          <a:spcPts val="0"/>
                        </a:spcBef>
                        <a:spcAft>
                          <a:spcPts val="0"/>
                        </a:spcAft>
                        <a:buClr>
                          <a:srgbClr val="000000"/>
                        </a:buClr>
                        <a:buSzPts val="2400"/>
                        <a:buFont typeface="Arial"/>
                        <a:buNone/>
                      </a:pPr>
                      <a:r>
                        <a:rPr lang="en-IN" sz="2000" u="none" strike="noStrike" cap="none" dirty="0">
                          <a:latin typeface="Times New Roman"/>
                          <a:ea typeface="Times New Roman"/>
                          <a:cs typeface="Times New Roman"/>
                          <a:sym typeface="Times New Roman"/>
                        </a:rPr>
                        <a:t>2. AKSHAYA R, 7376212CB103, CSBS</a:t>
                      </a:r>
                    </a:p>
                    <a:p>
                      <a:pPr marL="0" marR="0" lvl="0" indent="0" algn="l" rtl="0">
                        <a:lnSpc>
                          <a:spcPct val="115000"/>
                        </a:lnSpc>
                        <a:spcBef>
                          <a:spcPts val="0"/>
                        </a:spcBef>
                        <a:spcAft>
                          <a:spcPts val="0"/>
                        </a:spcAft>
                        <a:buClr>
                          <a:srgbClr val="000000"/>
                        </a:buClr>
                        <a:buSzPts val="2400"/>
                        <a:buFont typeface="Arial"/>
                        <a:buNone/>
                      </a:pPr>
                      <a:r>
                        <a:rPr lang="en-IN" sz="2000" u="none" strike="noStrike" cap="none" dirty="0">
                          <a:latin typeface="Times New Roman"/>
                          <a:ea typeface="Times New Roman"/>
                          <a:cs typeface="Times New Roman"/>
                          <a:sym typeface="Times New Roman"/>
                        </a:rPr>
                        <a:t>3. LAKSITA V S, 7376212CB127, CSBS</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2400"/>
                        <a:buFont typeface="Arial"/>
                        <a:buNone/>
                      </a:pPr>
                      <a:r>
                        <a:rPr lang="en-IN" sz="2400" i="1" u="none" strike="noStrike" cap="none" dirty="0" err="1">
                          <a:latin typeface="Times New Roman"/>
                          <a:ea typeface="Times New Roman"/>
                          <a:cs typeface="Times New Roman"/>
                          <a:sym typeface="Times New Roman"/>
                        </a:rPr>
                        <a:t>Dr.</a:t>
                      </a:r>
                      <a:r>
                        <a:rPr lang="en-IN" sz="2400" i="1" u="none" strike="noStrike" cap="none" dirty="0">
                          <a:latin typeface="Times New Roman"/>
                          <a:ea typeface="Times New Roman"/>
                          <a:cs typeface="Times New Roman"/>
                          <a:sym typeface="Times New Roman"/>
                        </a:rPr>
                        <a:t> PRIYA L</a:t>
                      </a:r>
                    </a:p>
                    <a:p>
                      <a:pPr marL="0" marR="0" lvl="0" indent="0" algn="l" rtl="0">
                        <a:lnSpc>
                          <a:spcPct val="115000"/>
                        </a:lnSpc>
                        <a:spcBef>
                          <a:spcPts val="0"/>
                        </a:spcBef>
                        <a:spcAft>
                          <a:spcPts val="0"/>
                        </a:spcAft>
                        <a:buClr>
                          <a:srgbClr val="000000"/>
                        </a:buClr>
                        <a:buSzPts val="2400"/>
                        <a:buFont typeface="Arial"/>
                        <a:buNone/>
                      </a:pPr>
                      <a:r>
                        <a:rPr lang="en-IN" sz="2400" i="1" u="none" strike="noStrike" cap="none" dirty="0">
                          <a:latin typeface="Times New Roman"/>
                          <a:ea typeface="Times New Roman"/>
                          <a:cs typeface="Times New Roman"/>
                          <a:sym typeface="Times New Roman"/>
                        </a:rPr>
                        <a:t>HOD/CSBS</a:t>
                      </a:r>
                      <a:endParaRPr sz="2400" i="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578075">
                <a:tc>
                  <a:txBody>
                    <a:bodyPr/>
                    <a:lstStyle/>
                    <a:p>
                      <a:pPr marL="0" marR="0" lvl="0" indent="0" algn="l" rtl="0">
                        <a:lnSpc>
                          <a:spcPct val="115000"/>
                        </a:lnSpc>
                        <a:spcBef>
                          <a:spcPts val="0"/>
                        </a:spcBef>
                        <a:spcAft>
                          <a:spcPts val="0"/>
                        </a:spcAft>
                        <a:buClr>
                          <a:srgbClr val="000000"/>
                        </a:buClr>
                        <a:buSzPts val="2400"/>
                        <a:buFont typeface="Arial"/>
                        <a:buNone/>
                      </a:pPr>
                      <a:endParaRPr lang="en-IN" sz="2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2400"/>
                        <a:buFont typeface="Arial"/>
                        <a:buNone/>
                      </a:pPr>
                      <a:endParaRPr sz="2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lnSpc>
                          <a:spcPct val="115000"/>
                        </a:lnSpc>
                        <a:spcBef>
                          <a:spcPts val="0"/>
                        </a:spcBef>
                        <a:spcAft>
                          <a:spcPts val="0"/>
                        </a:spcAft>
                        <a:buClr>
                          <a:srgbClr val="000000"/>
                        </a:buClr>
                        <a:buSzPts val="2400"/>
                        <a:buFont typeface="Arial"/>
                        <a:buNone/>
                      </a:pPr>
                      <a:endParaRPr lang="en-IN" sz="2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2400"/>
                        <a:buFont typeface="Arial"/>
                        <a:buNone/>
                      </a:pPr>
                      <a:endParaRPr sz="2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 name="Footer Placeholder 7"/>
          <p:cNvSpPr>
            <a:spLocks noGrp="1"/>
          </p:cNvSpPr>
          <p:nvPr>
            <p:ph type="ftr" idx="11"/>
          </p:nvPr>
        </p:nvSpPr>
        <p:spPr/>
        <p:txBody>
          <a:bodyPr/>
          <a:lstStyle/>
          <a:p>
            <a:r>
              <a:rPr lang="en-IN"/>
              <a:t>21CB508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4"/>
          <p:cNvSpPr txBox="1">
            <a:spLocks noGrp="1"/>
          </p:cNvSpPr>
          <p:nvPr>
            <p:ph type="title"/>
          </p:nvPr>
        </p:nvSpPr>
        <p:spPr>
          <a:xfrm>
            <a:off x="838200" y="365125"/>
            <a:ext cx="10515600" cy="83956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dirty="0">
                <a:latin typeface="Times New Roman"/>
                <a:ea typeface="Times New Roman"/>
                <a:cs typeface="Times New Roman"/>
                <a:sym typeface="Times New Roman"/>
              </a:rPr>
              <a:t>Objective</a:t>
            </a:r>
            <a:endParaRPr b="1" u="sng" dirty="0">
              <a:latin typeface="Times New Roman"/>
              <a:ea typeface="Times New Roman"/>
              <a:cs typeface="Times New Roman"/>
              <a:sym typeface="Times New Roman"/>
            </a:endParaRPr>
          </a:p>
        </p:txBody>
      </p:sp>
      <p:sp>
        <p:nvSpPr>
          <p:cNvPr id="101" name="Google Shape;101;p4"/>
          <p:cNvSpPr txBox="1">
            <a:spLocks noGrp="1"/>
          </p:cNvSpPr>
          <p:nvPr>
            <p:ph type="body" idx="1"/>
          </p:nvPr>
        </p:nvSpPr>
        <p:spPr>
          <a:xfrm>
            <a:off x="838200" y="1379013"/>
            <a:ext cx="10515600" cy="4803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SzPts val="1800"/>
              <a:buNone/>
            </a:pPr>
            <a:endParaRPr sz="2400" b="1" u="sng" dirty="0">
              <a:latin typeface="Times New Roman"/>
              <a:ea typeface="Times New Roman"/>
              <a:cs typeface="Times New Roman"/>
              <a:sym typeface="Times New Roman"/>
            </a:endParaRPr>
          </a:p>
          <a:p>
            <a:pPr marL="457200" lvl="0" indent="0" algn="just" rtl="0">
              <a:lnSpc>
                <a:spcPct val="115000"/>
              </a:lnSpc>
              <a:spcBef>
                <a:spcPts val="0"/>
              </a:spcBef>
              <a:spcAft>
                <a:spcPts val="0"/>
              </a:spcAft>
              <a:buNone/>
            </a:pPr>
            <a:endParaRPr sz="2600" dirty="0">
              <a:latin typeface="Times New Roman"/>
              <a:ea typeface="Times New Roman"/>
              <a:cs typeface="Times New Roman"/>
              <a:sym typeface="Times New Roman"/>
            </a:endParaRPr>
          </a:p>
        </p:txBody>
      </p:sp>
      <p:sp>
        <p:nvSpPr>
          <p:cNvPr id="102" name="Google Shape;102;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04" name="Google Shape;104;p4"/>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2</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sp>
        <p:nvSpPr>
          <p:cNvPr id="3" name="TextBox 2">
            <a:extLst>
              <a:ext uri="{FF2B5EF4-FFF2-40B4-BE49-F238E27FC236}">
                <a16:creationId xmlns:a16="http://schemas.microsoft.com/office/drawing/2014/main" id="{99CD6121-FE21-8CCE-CE69-18FA597B5A76}"/>
              </a:ext>
            </a:extLst>
          </p:cNvPr>
          <p:cNvSpPr txBox="1"/>
          <p:nvPr/>
        </p:nvSpPr>
        <p:spPr>
          <a:xfrm>
            <a:off x="1125415" y="1661797"/>
            <a:ext cx="9978014" cy="3349956"/>
          </a:xfrm>
          <a:prstGeom prst="rect">
            <a:avLst/>
          </a:prstGeom>
          <a:noFill/>
        </p:spPr>
        <p:txBody>
          <a:bodyPr wrap="square">
            <a:spAutoFit/>
          </a:bodyPr>
          <a:lstStyle/>
          <a:p>
            <a:pPr algn="l">
              <a:lnSpc>
                <a:spcPct val="150000"/>
              </a:lnSpc>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Objective</a:t>
            </a:r>
            <a:r>
              <a:rPr lang="en-US" sz="2400" b="0" i="0" dirty="0">
                <a:solidFill>
                  <a:schemeClr val="tx1"/>
                </a:solidFill>
                <a:effectLst/>
                <a:latin typeface="Times New Roman" panose="02020603050405020304" pitchFamily="18" charset="0"/>
                <a:cs typeface="Times New Roman" panose="02020603050405020304" pitchFamily="18" charset="0"/>
              </a:rPr>
              <a:t>: Streamline resume review for efficient hiring.</a:t>
            </a:r>
          </a:p>
          <a:p>
            <a:pPr algn="l">
              <a:lnSpc>
                <a:spcPct val="150000"/>
              </a:lnSpc>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Automation</a:t>
            </a:r>
            <a:r>
              <a:rPr lang="en-US" sz="2400" b="0" i="0" dirty="0">
                <a:solidFill>
                  <a:schemeClr val="tx1"/>
                </a:solidFill>
                <a:effectLst/>
                <a:latin typeface="Times New Roman" panose="02020603050405020304" pitchFamily="18" charset="0"/>
                <a:cs typeface="Times New Roman" panose="02020603050405020304" pitchFamily="18" charset="0"/>
              </a:rPr>
              <a:t>: Assist recruiters by automating initial resume evaluation.</a:t>
            </a:r>
          </a:p>
          <a:p>
            <a:pPr algn="l">
              <a:lnSpc>
                <a:spcPct val="150000"/>
              </a:lnSpc>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Efficiency</a:t>
            </a:r>
            <a:r>
              <a:rPr lang="en-US" sz="2400" b="0" i="0" dirty="0">
                <a:solidFill>
                  <a:schemeClr val="tx1"/>
                </a:solidFill>
                <a:effectLst/>
                <a:latin typeface="Times New Roman" panose="02020603050405020304" pitchFamily="18" charset="0"/>
                <a:cs typeface="Times New Roman" panose="02020603050405020304" pitchFamily="18" charset="0"/>
              </a:rPr>
              <a:t>: Speed up the review process, handling high volumes.</a:t>
            </a:r>
          </a:p>
          <a:p>
            <a:pPr algn="l">
              <a:lnSpc>
                <a:spcPct val="150000"/>
              </a:lnSpc>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Data Insights</a:t>
            </a:r>
            <a:r>
              <a:rPr lang="en-US" sz="2400" b="0" i="0" dirty="0">
                <a:solidFill>
                  <a:schemeClr val="tx1"/>
                </a:solidFill>
                <a:effectLst/>
                <a:latin typeface="Times New Roman" panose="02020603050405020304" pitchFamily="18" charset="0"/>
                <a:cs typeface="Times New Roman" panose="02020603050405020304" pitchFamily="18" charset="0"/>
              </a:rPr>
              <a:t>: Collect and analyze data for informed hiring decisions.</a:t>
            </a:r>
          </a:p>
          <a:p>
            <a:pPr algn="l">
              <a:lnSpc>
                <a:spcPct val="150000"/>
              </a:lnSpc>
              <a:buFont typeface="Arial" panose="020B0604020202020204" pitchFamily="34" charset="0"/>
              <a:buChar char="•"/>
            </a:pPr>
            <a:r>
              <a:rPr lang="en-US" sz="2400" b="1" i="0" dirty="0">
                <a:solidFill>
                  <a:schemeClr val="tx1"/>
                </a:solidFill>
                <a:effectLst/>
                <a:latin typeface="Times New Roman" panose="02020603050405020304" pitchFamily="18" charset="0"/>
                <a:cs typeface="Times New Roman" panose="02020603050405020304" pitchFamily="18" charset="0"/>
              </a:rPr>
              <a:t>Time Savings</a:t>
            </a:r>
            <a:r>
              <a:rPr lang="en-US" sz="2400" b="0" i="0" dirty="0">
                <a:solidFill>
                  <a:schemeClr val="tx1"/>
                </a:solidFill>
                <a:effectLst/>
                <a:latin typeface="Times New Roman" panose="02020603050405020304" pitchFamily="18" charset="0"/>
                <a:cs typeface="Times New Roman" panose="02020603050405020304" pitchFamily="18" charset="0"/>
              </a:rPr>
              <a:t>: Free up recruiters for higher-value tasks, improving hiring decisions and workforce productivity.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8" name="Google Shape;118;g10dd278f294_0_0"/>
          <p:cNvSpPr txBox="1">
            <a:spLocks noGrp="1"/>
          </p:cNvSpPr>
          <p:nvPr>
            <p:ph type="title"/>
          </p:nvPr>
        </p:nvSpPr>
        <p:spPr>
          <a:xfrm>
            <a:off x="838200" y="365125"/>
            <a:ext cx="10515600" cy="839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Problem Description</a:t>
            </a:r>
            <a:endParaRPr b="1" u="sng">
              <a:latin typeface="Times New Roman"/>
              <a:ea typeface="Times New Roman"/>
              <a:cs typeface="Times New Roman"/>
              <a:sym typeface="Times New Roman"/>
            </a:endParaRPr>
          </a:p>
        </p:txBody>
      </p:sp>
      <p:sp>
        <p:nvSpPr>
          <p:cNvPr id="119" name="Google Shape;119;g10dd278f294_0_0"/>
          <p:cNvSpPr txBox="1">
            <a:spLocks noGrp="1"/>
          </p:cNvSpPr>
          <p:nvPr>
            <p:ph type="body" idx="1"/>
          </p:nvPr>
        </p:nvSpPr>
        <p:spPr>
          <a:xfrm>
            <a:off x="928635" y="1744113"/>
            <a:ext cx="10515600" cy="3424099"/>
          </a:xfrm>
          <a:prstGeom prst="rect">
            <a:avLst/>
          </a:prstGeom>
          <a:noFill/>
          <a:ln>
            <a:noFill/>
          </a:ln>
        </p:spPr>
        <p:txBody>
          <a:bodyPr spcFirstLastPara="1" wrap="square" lIns="91425" tIns="45700" rIns="91425" bIns="45700" anchor="t" anchorCtr="0">
            <a:normAutofit/>
          </a:bodyPr>
          <a:lstStyle/>
          <a:p>
            <a:pPr marL="114300" indent="0" algn="just" rtl="0">
              <a:spcBef>
                <a:spcPts val="0"/>
              </a:spcBef>
              <a:spcAft>
                <a:spcPts val="0"/>
              </a:spcAft>
              <a:buNone/>
            </a:pPr>
            <a:r>
              <a:rPr lang="en-US" sz="2400" b="0" i="0" u="none" strike="noStrike" dirty="0">
                <a:solidFill>
                  <a:srgbClr val="000000"/>
                </a:solidFill>
                <a:effectLst/>
                <a:latin typeface="Times New Roman" panose="02020603050405020304" pitchFamily="18" charset="0"/>
                <a:cs typeface="Times New Roman" panose="02020603050405020304" pitchFamily="18" charset="0"/>
              </a:rPr>
              <a:t>Recruiters and hiring managers often rely on traditional resume screening techniques when evaluating job applicants. From reviewing resumes for keywords to those infamous cover letters, it can be easy to miss the mark when it comes to the </a:t>
            </a:r>
            <a:r>
              <a:rPr lang="en-US" sz="2400" i="0" u="none" strike="noStrike" dirty="0">
                <a:solidFill>
                  <a:srgbClr val="000000"/>
                </a:solidFill>
                <a:effectLst/>
                <a:latin typeface="Times New Roman" panose="02020603050405020304" pitchFamily="18" charset="0"/>
                <a:cs typeface="Times New Roman" panose="02020603050405020304" pitchFamily="18" charset="0"/>
              </a:rPr>
              <a:t>evaluation</a:t>
            </a:r>
            <a:r>
              <a:rPr lang="en-US" sz="2400" b="0" i="0" u="none" strike="noStrike" dirty="0">
                <a:solidFill>
                  <a:srgbClr val="000000"/>
                </a:solidFill>
                <a:effectLst/>
                <a:latin typeface="Times New Roman" panose="02020603050405020304" pitchFamily="18" charset="0"/>
                <a:cs typeface="Times New Roman" panose="02020603050405020304" pitchFamily="18" charset="0"/>
              </a:rPr>
              <a:t> process.</a:t>
            </a:r>
            <a:r>
              <a:rPr lang="en-US" sz="2400" dirty="0">
                <a:latin typeface="Times New Roman" panose="02020603050405020304" pitchFamily="18" charset="0"/>
                <a:cs typeface="Times New Roman" panose="02020603050405020304" pitchFamily="18" charset="0"/>
              </a:rPr>
              <a:t> </a:t>
            </a:r>
            <a:r>
              <a:rPr lang="en-US" sz="2400" b="0" i="0" u="none" strike="noStrike" dirty="0">
                <a:solidFill>
                  <a:srgbClr val="000000"/>
                </a:solidFill>
                <a:effectLst/>
                <a:latin typeface="Times New Roman" panose="02020603050405020304" pitchFamily="18" charset="0"/>
                <a:cs typeface="Times New Roman" panose="02020603050405020304" pitchFamily="18" charset="0"/>
              </a:rPr>
              <a:t>When it comes to traditional resume screening, there is often a problem with inconsistencies in evaluation criteria. Without being able to see a candidate in person, or being able to ask them questions relevant to their job, recruiters are left with only the information from a candidate’s resume and cover letter.</a:t>
            </a:r>
            <a:endParaRPr lang="en-US" sz="2400" b="0" dirty="0">
              <a:effectLst/>
              <a:latin typeface="Times New Roman" panose="02020603050405020304" pitchFamily="18" charset="0"/>
              <a:cs typeface="Times New Roman" panose="02020603050405020304" pitchFamily="18" charset="0"/>
            </a:endParaRPr>
          </a:p>
        </p:txBody>
      </p:sp>
      <p:sp>
        <p:nvSpPr>
          <p:cNvPr id="120" name="Google Shape;120;g10dd278f294_0_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22" name="Google Shape;122;g10dd278f294_0_0"/>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3</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26"/>
        <p:cNvGrpSpPr/>
        <p:nvPr/>
      </p:nvGrpSpPr>
      <p:grpSpPr>
        <a:xfrm>
          <a:off x="0" y="0"/>
          <a:ext cx="0" cy="0"/>
          <a:chOff x="0" y="0"/>
          <a:chExt cx="0" cy="0"/>
        </a:xfrm>
      </p:grpSpPr>
      <p:sp>
        <p:nvSpPr>
          <p:cNvPr id="129" name="Google Shape;129;p5"/>
          <p:cNvSpPr txBox="1">
            <a:spLocks noGrp="1"/>
          </p:cNvSpPr>
          <p:nvPr>
            <p:ph type="title"/>
          </p:nvPr>
        </p:nvSpPr>
        <p:spPr>
          <a:xfrm>
            <a:off x="838200" y="218900"/>
            <a:ext cx="10515600" cy="868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dirty="0">
                <a:latin typeface="Times New Roman"/>
                <a:ea typeface="Times New Roman"/>
                <a:cs typeface="Times New Roman"/>
                <a:sym typeface="Times New Roman"/>
              </a:rPr>
              <a:t>Literature Survey</a:t>
            </a:r>
            <a:endParaRPr b="1" u="sng" dirty="0">
              <a:latin typeface="Times New Roman"/>
              <a:ea typeface="Times New Roman"/>
              <a:cs typeface="Times New Roman"/>
              <a:sym typeface="Times New Roman"/>
            </a:endParaRPr>
          </a:p>
        </p:txBody>
      </p:sp>
      <p:sp>
        <p:nvSpPr>
          <p:cNvPr id="134" name="Google Shape;134;p5"/>
          <p:cNvSpPr txBox="1"/>
          <p:nvPr/>
        </p:nvSpPr>
        <p:spPr>
          <a:xfrm>
            <a:off x="693345" y="1282321"/>
            <a:ext cx="10929286" cy="4924395"/>
          </a:xfrm>
          <a:prstGeom prst="rect">
            <a:avLst/>
          </a:prstGeom>
          <a:noFill/>
          <a:ln>
            <a:noFill/>
          </a:ln>
        </p:spPr>
        <p:txBody>
          <a:bodyPr spcFirstLastPara="1" wrap="square" lIns="91425" tIns="91425" rIns="91425" bIns="91425" anchor="t" anchorCtr="0">
            <a:spAutoFit/>
          </a:bodyPr>
          <a:lstStyle/>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dirty="0">
              <a:latin typeface="Times New Roman"/>
              <a:ea typeface="Times New Roman"/>
              <a:cs typeface="Times New Roman"/>
              <a:sym typeface="Times New Roman"/>
            </a:endParaRPr>
          </a:p>
          <a:p>
            <a:pPr marL="88900" marR="0" lvl="0" algn="just" rtl="0">
              <a:lnSpc>
                <a:spcPct val="100000"/>
              </a:lnSpc>
              <a:spcBef>
                <a:spcPts val="0"/>
              </a:spcBef>
              <a:spcAft>
                <a:spcPts val="0"/>
              </a:spcAft>
              <a:buClr>
                <a:srgbClr val="000000"/>
              </a:buClr>
              <a:buSzPts val="2200"/>
            </a:pPr>
            <a:endParaRPr lang="en-IN" sz="2200" b="0" i="0" u="none" strike="noStrike" cap="none" dirty="0">
              <a:solidFill>
                <a:srgbClr val="000000"/>
              </a:solidFill>
              <a:latin typeface="Times New Roman"/>
              <a:ea typeface="Times New Roman"/>
              <a:cs typeface="Times New Roman"/>
              <a:sym typeface="Times New Roman"/>
            </a:endParaRPr>
          </a:p>
        </p:txBody>
      </p:sp>
      <p:sp>
        <p:nvSpPr>
          <p:cNvPr id="135" name="Google Shape;135;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37" name="Google Shape;137;p5"/>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4</a:t>
            </a:fld>
            <a:endParaRPr sz="1300" b="1">
              <a:latin typeface="Times New Roman"/>
              <a:ea typeface="Times New Roman"/>
              <a:cs typeface="Times New Roman"/>
              <a:sym typeface="Times New Roman"/>
            </a:endParaRPr>
          </a:p>
        </p:txBody>
      </p:sp>
      <p:sp>
        <p:nvSpPr>
          <p:cNvPr id="138" name="Google Shape;138;p5"/>
          <p:cNvSpPr/>
          <p:nvPr/>
        </p:nvSpPr>
        <p:spPr>
          <a:xfrm>
            <a:off x="1457325" y="1800225"/>
            <a:ext cx="471600" cy="365100"/>
          </a:xfrm>
          <a:prstGeom prst="rect">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9" name="Google Shape;139;p5"/>
          <p:cNvCxnSpPr>
            <a:endCxn id="138" idx="0"/>
          </p:cNvCxnSpPr>
          <p:nvPr/>
        </p:nvCxnSpPr>
        <p:spPr>
          <a:xfrm flipH="1">
            <a:off x="1693125" y="1471725"/>
            <a:ext cx="107100" cy="328500"/>
          </a:xfrm>
          <a:prstGeom prst="straightConnector1">
            <a:avLst/>
          </a:prstGeom>
          <a:noFill/>
          <a:ln w="28575" cap="flat" cmpd="sng">
            <a:solidFill>
              <a:schemeClr val="lt1"/>
            </a:solidFill>
            <a:prstDash val="solid"/>
            <a:round/>
            <a:headEnd type="none" w="sm" len="sm"/>
            <a:tailEnd type="triangle" w="med" len="med"/>
          </a:ln>
        </p:spPr>
      </p:cxnSp>
      <p:sp>
        <p:nvSpPr>
          <p:cNvPr id="140" name="Google Shape;140;p5"/>
          <p:cNvSpPr/>
          <p:nvPr/>
        </p:nvSpPr>
        <p:spPr>
          <a:xfrm>
            <a:off x="3086100" y="4043375"/>
            <a:ext cx="471600" cy="1086000"/>
          </a:xfrm>
          <a:prstGeom prst="rect">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1" name="Google Shape;141;p5"/>
          <p:cNvCxnSpPr>
            <a:endCxn id="140" idx="1"/>
          </p:cNvCxnSpPr>
          <p:nvPr/>
        </p:nvCxnSpPr>
        <p:spPr>
          <a:xfrm>
            <a:off x="2743200" y="4243475"/>
            <a:ext cx="342900" cy="342900"/>
          </a:xfrm>
          <a:prstGeom prst="straightConnector1">
            <a:avLst/>
          </a:prstGeom>
          <a:noFill/>
          <a:ln w="28575" cap="flat" cmpd="sng">
            <a:solidFill>
              <a:schemeClr val="lt1"/>
            </a:solidFill>
            <a:prstDash val="solid"/>
            <a:round/>
            <a:headEnd type="none" w="sm" len="sm"/>
            <a:tailEnd type="triangle" w="med" len="med"/>
          </a:ln>
        </p:spPr>
      </p:cxnSp>
      <p:sp>
        <p:nvSpPr>
          <p:cNvPr id="142" name="Google Shape;142;p5"/>
          <p:cNvSpPr/>
          <p:nvPr/>
        </p:nvSpPr>
        <p:spPr>
          <a:xfrm>
            <a:off x="5053000" y="1807275"/>
            <a:ext cx="471600" cy="365100"/>
          </a:xfrm>
          <a:prstGeom prst="rect">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3" name="Google Shape;143;p5"/>
          <p:cNvCxnSpPr>
            <a:endCxn id="142" idx="0"/>
          </p:cNvCxnSpPr>
          <p:nvPr/>
        </p:nvCxnSpPr>
        <p:spPr>
          <a:xfrm flipH="1">
            <a:off x="5288800" y="1478775"/>
            <a:ext cx="107100" cy="328500"/>
          </a:xfrm>
          <a:prstGeom prst="straightConnector1">
            <a:avLst/>
          </a:prstGeom>
          <a:noFill/>
          <a:ln w="28575" cap="flat" cmpd="sng">
            <a:solidFill>
              <a:schemeClr val="lt1"/>
            </a:solidFill>
            <a:prstDash val="solid"/>
            <a:round/>
            <a:headEnd type="none" w="sm" len="sm"/>
            <a:tailEnd type="triangle" w="med" len="med"/>
          </a:ln>
        </p:spPr>
      </p:cxnSp>
      <p:sp>
        <p:nvSpPr>
          <p:cNvPr id="144" name="Google Shape;144;p5"/>
          <p:cNvSpPr/>
          <p:nvPr/>
        </p:nvSpPr>
        <p:spPr>
          <a:xfrm>
            <a:off x="4801688" y="5907172"/>
            <a:ext cx="608400" cy="328500"/>
          </a:xfrm>
          <a:prstGeom prst="rect">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5" name="Google Shape;145;p5"/>
          <p:cNvCxnSpPr>
            <a:endCxn id="144" idx="3"/>
          </p:cNvCxnSpPr>
          <p:nvPr/>
        </p:nvCxnSpPr>
        <p:spPr>
          <a:xfrm flipH="1">
            <a:off x="5410088" y="5872222"/>
            <a:ext cx="747900" cy="199200"/>
          </a:xfrm>
          <a:prstGeom prst="straightConnector1">
            <a:avLst/>
          </a:prstGeom>
          <a:noFill/>
          <a:ln w="28575" cap="flat" cmpd="sng">
            <a:solidFill>
              <a:schemeClr val="lt1"/>
            </a:solidFill>
            <a:prstDash val="solid"/>
            <a:round/>
            <a:headEnd type="none" w="sm" len="sm"/>
            <a:tailEnd type="triangle" w="med" len="med"/>
          </a:ln>
        </p:spPr>
      </p:cxnSp>
      <p:sp>
        <p:nvSpPr>
          <p:cNvPr id="15" name="Footer Placeholder 14"/>
          <p:cNvSpPr>
            <a:spLocks noGrp="1"/>
          </p:cNvSpPr>
          <p:nvPr>
            <p:ph type="ftr" idx="11"/>
          </p:nvPr>
        </p:nvSpPr>
        <p:spPr/>
        <p:txBody>
          <a:bodyPr/>
          <a:lstStyle/>
          <a:p>
            <a:r>
              <a:rPr lang="en-IN"/>
              <a:t>21CB508</a:t>
            </a:r>
          </a:p>
        </p:txBody>
      </p:sp>
      <p:sp>
        <p:nvSpPr>
          <p:cNvPr id="3" name="TextBox 2">
            <a:extLst>
              <a:ext uri="{FF2B5EF4-FFF2-40B4-BE49-F238E27FC236}">
                <a16:creationId xmlns:a16="http://schemas.microsoft.com/office/drawing/2014/main" id="{60AE747C-024D-1683-C59D-25DB6DC495CE}"/>
              </a:ext>
            </a:extLst>
          </p:cNvPr>
          <p:cNvSpPr txBox="1"/>
          <p:nvPr/>
        </p:nvSpPr>
        <p:spPr>
          <a:xfrm>
            <a:off x="1386673" y="1446352"/>
            <a:ext cx="9666514" cy="5016758"/>
          </a:xfrm>
          <a:prstGeom prst="rect">
            <a:avLst/>
          </a:prstGeom>
          <a:noFill/>
        </p:spPr>
        <p:txBody>
          <a:bodyPr wrap="square">
            <a:spAutoFit/>
          </a:bodyPr>
          <a:lstStyle/>
          <a:p>
            <a:pPr marL="342900" indent="-342900" algn="just"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Resume Screening is a very important step in the hiring process</a:t>
            </a:r>
            <a:endParaRPr lang="en-US" sz="2000" b="0" dirty="0">
              <a:effectLst/>
              <a:latin typeface="Times New Roman" panose="02020603050405020304" pitchFamily="18" charset="0"/>
              <a:cs typeface="Times New Roman" panose="02020603050405020304" pitchFamily="18" charset="0"/>
            </a:endParaRPr>
          </a:p>
          <a:p>
            <a:pPr marL="342900" indent="-342900" algn="just"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Even today, many companies are following the traditional resume screening process Category Resume Analyzing the Data DL Classifiers Split the Data and Tokenize the features And labels. Resume after excess Words removal Graph is generated Using model’s test Score and accuracy Allocating Resumes Into category as input</a:t>
            </a:r>
            <a:endParaRPr lang="en-US" sz="2000" b="0" dirty="0">
              <a:effectLst/>
              <a:latin typeface="Times New Roman" panose="02020603050405020304" pitchFamily="18" charset="0"/>
              <a:cs typeface="Times New Roman" panose="02020603050405020304" pitchFamily="18" charset="0"/>
            </a:endParaRPr>
          </a:p>
          <a:p>
            <a:pPr marL="342900" indent="-342900" algn="just"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Even though many efficient systems were proposed to perform resume screening operations, due to some problems, the systems are not efficient as expected. </a:t>
            </a:r>
            <a:endParaRPr lang="en-US" sz="2000" b="0" dirty="0">
              <a:effectLst/>
              <a:latin typeface="Times New Roman" panose="02020603050405020304" pitchFamily="18" charset="0"/>
              <a:cs typeface="Times New Roman" panose="02020603050405020304" pitchFamily="18" charset="0"/>
            </a:endParaRPr>
          </a:p>
          <a:p>
            <a:pPr marL="342900" indent="-342900" algn="just" rtl="0">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esume Screening using Machine Learning approaches has some issues like a time consuming, not being user friendly, etc. </a:t>
            </a:r>
            <a:endParaRPr lang="en-US" sz="2000" b="0" dirty="0">
              <a:effectLst/>
              <a:latin typeface="Times New Roman" panose="02020603050405020304" pitchFamily="18" charset="0"/>
              <a:cs typeface="Times New Roman" panose="02020603050405020304" pitchFamily="18" charset="0"/>
            </a:endParaRPr>
          </a:p>
          <a:p>
            <a:pPr marL="342900" indent="-342900" algn="just"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Resume Screening using Artificial Intelligence approaches has some issues with input/output format, single resume acceptance for a time (which leads to a lot of time to screen all the resumes), etc. </a:t>
            </a:r>
            <a:endParaRPr lang="en-US" sz="2000" b="0" dirty="0">
              <a:effectLst/>
              <a:latin typeface="Times New Roman" panose="02020603050405020304" pitchFamily="18" charset="0"/>
              <a:cs typeface="Times New Roman" panose="02020603050405020304" pitchFamily="18" charset="0"/>
            </a:endParaRPr>
          </a:p>
          <a:p>
            <a:pPr marL="342900" indent="-342900" algn="just" rtl="0">
              <a:spcBef>
                <a:spcPts val="0"/>
              </a:spcBef>
              <a:spcAft>
                <a:spcPts val="0"/>
              </a:spcAft>
              <a:buFont typeface="Wingdings" panose="05000000000000000000" pitchFamily="2" charset="2"/>
              <a:buChar char="Ø"/>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Resume Screening using Deep Learning has issues like complex architecture (like coupling between any two blocks of code), inefficient, etc.</a:t>
            </a:r>
            <a:endParaRPr lang="en-US" sz="2000" b="0" dirty="0">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p6"/>
          <p:cNvSpPr txBox="1">
            <a:spLocks noGrp="1"/>
          </p:cNvSpPr>
          <p:nvPr>
            <p:ph type="title"/>
          </p:nvPr>
        </p:nvSpPr>
        <p:spPr>
          <a:xfrm>
            <a:off x="838200" y="345029"/>
            <a:ext cx="10515600" cy="82504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Scope of the Project</a:t>
            </a:r>
            <a:endParaRPr b="1" u="sng">
              <a:latin typeface="Times New Roman"/>
              <a:ea typeface="Times New Roman"/>
              <a:cs typeface="Times New Roman"/>
              <a:sym typeface="Times New Roman"/>
            </a:endParaRPr>
          </a:p>
        </p:txBody>
      </p:sp>
      <p:sp>
        <p:nvSpPr>
          <p:cNvPr id="152" name="Google Shape;152;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54" name="Google Shape;154;p6"/>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5</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sp>
        <p:nvSpPr>
          <p:cNvPr id="2" name="Text Placeholder 1">
            <a:extLst>
              <a:ext uri="{FF2B5EF4-FFF2-40B4-BE49-F238E27FC236}">
                <a16:creationId xmlns:a16="http://schemas.microsoft.com/office/drawing/2014/main" id="{4F0012FF-1476-4F27-5F80-E930EE3695B0}"/>
              </a:ext>
            </a:extLst>
          </p:cNvPr>
          <p:cNvSpPr>
            <a:spLocks noGrp="1" noChangeArrowheads="1"/>
          </p:cNvSpPr>
          <p:nvPr>
            <p:ph type="body" idx="1"/>
          </p:nvPr>
        </p:nvSpPr>
        <p:spPr bwMode="auto">
          <a:xfrm>
            <a:off x="1535645" y="757552"/>
            <a:ext cx="9120710" cy="6217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Promising Scope</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Advancing tech, high demand for efficient hiring, and the need for objectivity make resume screening apps promising.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Efficiency Boost</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Automation saves time and effort, appealing to organizations of all sizes.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User-Friendly Focus</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Intuitive interfaces are crucial for HR, ensuring efficiency.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Rising Demand</a:t>
            </a:r>
            <a:r>
              <a:rPr kumimoji="0" lang="en-US" altLang="en-US" sz="2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Competitive job market fuels the need for efficient candidate screening.</a:t>
            </a:r>
          </a:p>
          <a:p>
            <a:pPr marL="0" marR="0" lvl="0" indent="0" algn="just" defTabSz="914400" rtl="0" eaLnBrk="0" fontAlgn="base" latinLnBrk="0" hangingPunct="0">
              <a:lnSpc>
                <a:spcPct val="150000"/>
              </a:lnSpc>
              <a:spcBef>
                <a:spcPct val="0"/>
              </a:spcBef>
              <a:spcAft>
                <a:spcPct val="0"/>
              </a:spcAft>
              <a:buClrTx/>
              <a:buSzTx/>
              <a:buFontTx/>
              <a:buNone/>
              <a:tabLst/>
            </a:pPr>
            <a:br>
              <a:rPr kumimoji="0" lang="en-US" altLang="en-US"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8"/>
        <p:cNvGrpSpPr/>
        <p:nvPr/>
      </p:nvGrpSpPr>
      <p:grpSpPr>
        <a:xfrm>
          <a:off x="0" y="0"/>
          <a:ext cx="0" cy="0"/>
          <a:chOff x="0" y="0"/>
          <a:chExt cx="0" cy="0"/>
        </a:xfrm>
      </p:grpSpPr>
      <p:sp>
        <p:nvSpPr>
          <p:cNvPr id="159" name="Google Shape;159;p9"/>
          <p:cNvSpPr txBox="1">
            <a:spLocks noGrp="1"/>
          </p:cNvSpPr>
          <p:nvPr>
            <p:ph type="title"/>
          </p:nvPr>
        </p:nvSpPr>
        <p:spPr>
          <a:xfrm>
            <a:off x="838200" y="365126"/>
            <a:ext cx="10515600" cy="89761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Proposed Methodology</a:t>
            </a:r>
            <a:endParaRPr b="1" u="sng">
              <a:latin typeface="Times New Roman"/>
              <a:ea typeface="Times New Roman"/>
              <a:cs typeface="Times New Roman"/>
              <a:sym typeface="Times New Roman"/>
            </a:endParaRPr>
          </a:p>
        </p:txBody>
      </p:sp>
      <p:sp>
        <p:nvSpPr>
          <p:cNvPr id="160" name="Google Shape;160;p9"/>
          <p:cNvSpPr txBox="1">
            <a:spLocks noGrp="1"/>
          </p:cNvSpPr>
          <p:nvPr>
            <p:ph type="body" idx="1"/>
          </p:nvPr>
        </p:nvSpPr>
        <p:spPr>
          <a:xfrm>
            <a:off x="838200" y="1465943"/>
            <a:ext cx="5847735" cy="4711020"/>
          </a:xfrm>
          <a:prstGeom prst="rect">
            <a:avLst/>
          </a:prstGeom>
          <a:noFill/>
          <a:ln>
            <a:noFill/>
          </a:ln>
        </p:spPr>
        <p:txBody>
          <a:bodyPr spcFirstLastPara="1" wrap="square" lIns="91425" tIns="45700" rIns="91425" bIns="45700" anchor="t" anchorCtr="0">
            <a:normAutofit fontScale="92500"/>
          </a:bodyPr>
          <a:lstStyle/>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Understanding the problem and exploring an optimal solution.</a:t>
            </a:r>
          </a:p>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Identify the technical stack of the project.</a:t>
            </a:r>
          </a:p>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Create a prototype of the project. </a:t>
            </a:r>
          </a:p>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Use NLP techniques to extract the key words from resume.</a:t>
            </a:r>
          </a:p>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Analyse various ML algorithms to predict the correct job.</a:t>
            </a:r>
          </a:p>
          <a:p>
            <a:pPr marL="457200" lvl="0" indent="-393700" algn="just" rtl="0">
              <a:lnSpc>
                <a:spcPct val="200000"/>
              </a:lnSpc>
              <a:spcBef>
                <a:spcPts val="0"/>
              </a:spcBef>
              <a:spcAft>
                <a:spcPts val="0"/>
              </a:spcAft>
              <a:buSzPts val="2600"/>
              <a:buFont typeface="Times New Roman"/>
              <a:buChar char="➢"/>
            </a:pPr>
            <a:r>
              <a:rPr lang="en-IN" sz="1800" dirty="0">
                <a:latin typeface="Times New Roman"/>
                <a:ea typeface="Times New Roman"/>
                <a:cs typeface="Times New Roman"/>
                <a:sym typeface="Times New Roman"/>
              </a:rPr>
              <a:t>Integrate the ML model into website.</a:t>
            </a:r>
          </a:p>
          <a:p>
            <a:pPr marL="457200" lvl="0" indent="-393700" algn="just" rtl="0">
              <a:lnSpc>
                <a:spcPct val="100000"/>
              </a:lnSpc>
              <a:spcBef>
                <a:spcPts val="0"/>
              </a:spcBef>
              <a:spcAft>
                <a:spcPts val="0"/>
              </a:spcAft>
              <a:buSzPts val="2600"/>
              <a:buFont typeface="Times New Roman"/>
              <a:buChar char="➢"/>
            </a:pPr>
            <a:endParaRPr lang="en-IN" sz="1800" dirty="0">
              <a:latin typeface="Times New Roman"/>
              <a:ea typeface="Times New Roman"/>
              <a:cs typeface="Times New Roman"/>
              <a:sym typeface="Times New Roman"/>
            </a:endParaRPr>
          </a:p>
          <a:p>
            <a:pPr marL="457200" lvl="0" indent="-393700" algn="just" rtl="0">
              <a:lnSpc>
                <a:spcPct val="100000"/>
              </a:lnSpc>
              <a:spcBef>
                <a:spcPts val="0"/>
              </a:spcBef>
              <a:spcAft>
                <a:spcPts val="0"/>
              </a:spcAft>
              <a:buSzPts val="2600"/>
              <a:buFont typeface="Times New Roman"/>
              <a:buChar char="➢"/>
            </a:pPr>
            <a:endParaRPr sz="1800" dirty="0">
              <a:latin typeface="Times New Roman"/>
              <a:ea typeface="Times New Roman"/>
              <a:cs typeface="Times New Roman"/>
              <a:sym typeface="Times New Roman"/>
            </a:endParaRPr>
          </a:p>
        </p:txBody>
      </p:sp>
      <p:sp>
        <p:nvSpPr>
          <p:cNvPr id="161" name="Google Shape;161;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63" name="Google Shape;163;p9"/>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6</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pic>
        <p:nvPicPr>
          <p:cNvPr id="2" name="Picture 1">
            <a:extLst>
              <a:ext uri="{FF2B5EF4-FFF2-40B4-BE49-F238E27FC236}">
                <a16:creationId xmlns:a16="http://schemas.microsoft.com/office/drawing/2014/main" id="{BF0D57F0-441A-74FB-84F8-82405BB1C89A}"/>
              </a:ext>
            </a:extLst>
          </p:cNvPr>
          <p:cNvPicPr>
            <a:picLocks noChangeAspect="1"/>
          </p:cNvPicPr>
          <p:nvPr/>
        </p:nvPicPr>
        <p:blipFill>
          <a:blip r:embed="rId3"/>
          <a:stretch>
            <a:fillRect/>
          </a:stretch>
        </p:blipFill>
        <p:spPr>
          <a:xfrm>
            <a:off x="7030378" y="1140543"/>
            <a:ext cx="4688214" cy="4935792"/>
          </a:xfrm>
          <a:prstGeom prst="rect">
            <a:avLst/>
          </a:prstGeom>
        </p:spPr>
      </p:pic>
      <p:sp>
        <p:nvSpPr>
          <p:cNvPr id="3" name="TextBox 2">
            <a:extLst>
              <a:ext uri="{FF2B5EF4-FFF2-40B4-BE49-F238E27FC236}">
                <a16:creationId xmlns:a16="http://schemas.microsoft.com/office/drawing/2014/main" id="{E994B65D-4339-6E0E-EDEE-E167566CCCCC}"/>
              </a:ext>
            </a:extLst>
          </p:cNvPr>
          <p:cNvSpPr txBox="1"/>
          <p:nvPr/>
        </p:nvSpPr>
        <p:spPr>
          <a:xfrm>
            <a:off x="8721213" y="4739149"/>
            <a:ext cx="1806905" cy="307777"/>
          </a:xfrm>
          <a:prstGeom prst="rect">
            <a:avLst/>
          </a:prstGeom>
          <a:noFill/>
        </p:spPr>
        <p:txBody>
          <a:bodyPr wrap="none" rtlCol="0">
            <a:spAutoFit/>
          </a:bodyPr>
          <a:lstStyle/>
          <a:p>
            <a:r>
              <a:rPr lang="en-IN" dirty="0"/>
              <a:t>Fig.1 Proposed Plan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882D-94F8-0F41-B713-3B9887D88A1F}"/>
              </a:ext>
            </a:extLst>
          </p:cNvPr>
          <p:cNvSpPr>
            <a:spLocks noGrp="1"/>
          </p:cNvSpPr>
          <p:nvPr>
            <p:ph type="title"/>
          </p:nvPr>
        </p:nvSpPr>
        <p:spPr/>
        <p:txBody>
          <a:bodyPr/>
          <a:lstStyle/>
          <a:p>
            <a:r>
              <a:rPr lang="en-US" dirty="0"/>
              <a:t>REQUIREMENTS</a:t>
            </a:r>
            <a:endParaRPr lang="en-IN" dirty="0"/>
          </a:p>
        </p:txBody>
      </p:sp>
      <p:sp>
        <p:nvSpPr>
          <p:cNvPr id="4" name="Date Placeholder 3">
            <a:extLst>
              <a:ext uri="{FF2B5EF4-FFF2-40B4-BE49-F238E27FC236}">
                <a16:creationId xmlns:a16="http://schemas.microsoft.com/office/drawing/2014/main" id="{EEA215CD-8E35-98E5-E20E-A486FB31F8F7}"/>
              </a:ext>
            </a:extLst>
          </p:cNvPr>
          <p:cNvSpPr>
            <a:spLocks noGrp="1"/>
          </p:cNvSpPr>
          <p:nvPr>
            <p:ph type="dt" idx="10"/>
          </p:nvPr>
        </p:nvSpPr>
        <p:spPr/>
        <p:txBody>
          <a:bodyPr/>
          <a:lstStyle/>
          <a:p>
            <a:fld id="{FF69C973-F45C-4F50-B341-CA626952F065}" type="datetime5">
              <a:rPr lang="en-US" smtClean="0"/>
              <a:t>4-Dec-23</a:t>
            </a:fld>
            <a:endParaRPr lang="en-US"/>
          </a:p>
        </p:txBody>
      </p:sp>
      <p:sp>
        <p:nvSpPr>
          <p:cNvPr id="5" name="Footer Placeholder 4">
            <a:extLst>
              <a:ext uri="{FF2B5EF4-FFF2-40B4-BE49-F238E27FC236}">
                <a16:creationId xmlns:a16="http://schemas.microsoft.com/office/drawing/2014/main" id="{799B32E1-ABE4-4525-B876-B0ABBEC2D89E}"/>
              </a:ext>
            </a:extLst>
          </p:cNvPr>
          <p:cNvSpPr>
            <a:spLocks noGrp="1"/>
          </p:cNvSpPr>
          <p:nvPr>
            <p:ph type="ftr" idx="11"/>
          </p:nvPr>
        </p:nvSpPr>
        <p:spPr/>
        <p:txBody>
          <a:bodyPr/>
          <a:lstStyle/>
          <a:p>
            <a:r>
              <a:rPr lang="en-IN"/>
              <a:t>21CB508</a:t>
            </a:r>
          </a:p>
        </p:txBody>
      </p:sp>
      <p:sp>
        <p:nvSpPr>
          <p:cNvPr id="6" name="Slide Number Placeholder 5">
            <a:extLst>
              <a:ext uri="{FF2B5EF4-FFF2-40B4-BE49-F238E27FC236}">
                <a16:creationId xmlns:a16="http://schemas.microsoft.com/office/drawing/2014/main" id="{91E78E43-7377-0D0F-7CC2-C09A17ADD3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pPr marL="0" lvl="0" indent="0" algn="r" rtl="0">
                <a:spcBef>
                  <a:spcPts val="0"/>
                </a:spcBef>
                <a:spcAft>
                  <a:spcPts val="0"/>
                </a:spcAft>
                <a:buNone/>
              </a:pPr>
              <a:t>7</a:t>
            </a:fld>
            <a:endParaRPr lang="en-IN"/>
          </a:p>
        </p:txBody>
      </p:sp>
      <p:pic>
        <p:nvPicPr>
          <p:cNvPr id="12" name="Picture 11">
            <a:extLst>
              <a:ext uri="{FF2B5EF4-FFF2-40B4-BE49-F238E27FC236}">
                <a16:creationId xmlns:a16="http://schemas.microsoft.com/office/drawing/2014/main" id="{AA1E03D7-568F-E408-37CB-AEBB76C310C9}"/>
              </a:ext>
            </a:extLst>
          </p:cNvPr>
          <p:cNvPicPr>
            <a:picLocks noChangeAspect="1"/>
          </p:cNvPicPr>
          <p:nvPr/>
        </p:nvPicPr>
        <p:blipFill>
          <a:blip r:embed="rId2"/>
          <a:stretch>
            <a:fillRect/>
          </a:stretch>
        </p:blipFill>
        <p:spPr>
          <a:xfrm>
            <a:off x="-226963" y="1376516"/>
            <a:ext cx="5971459" cy="4478594"/>
          </a:xfrm>
          <a:prstGeom prst="rect">
            <a:avLst/>
          </a:prstGeom>
        </p:spPr>
      </p:pic>
      <p:pic>
        <p:nvPicPr>
          <p:cNvPr id="16" name="Picture 15">
            <a:extLst>
              <a:ext uri="{FF2B5EF4-FFF2-40B4-BE49-F238E27FC236}">
                <a16:creationId xmlns:a16="http://schemas.microsoft.com/office/drawing/2014/main" id="{54B08E2E-B7F2-CBD7-50EA-85568D31143F}"/>
              </a:ext>
            </a:extLst>
          </p:cNvPr>
          <p:cNvPicPr>
            <a:picLocks noChangeAspect="1"/>
          </p:cNvPicPr>
          <p:nvPr/>
        </p:nvPicPr>
        <p:blipFill>
          <a:blip r:embed="rId3"/>
          <a:stretch>
            <a:fillRect/>
          </a:stretch>
        </p:blipFill>
        <p:spPr>
          <a:xfrm>
            <a:off x="4986594" y="1100983"/>
            <a:ext cx="7125109" cy="5343832"/>
          </a:xfrm>
          <a:prstGeom prst="rect">
            <a:avLst/>
          </a:prstGeom>
        </p:spPr>
      </p:pic>
    </p:spTree>
    <p:extLst>
      <p:ext uri="{BB962C8B-B14F-4D97-AF65-F5344CB8AC3E}">
        <p14:creationId xmlns:p14="http://schemas.microsoft.com/office/powerpoint/2010/main" val="4245689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7"/>
        <p:cNvGrpSpPr/>
        <p:nvPr/>
      </p:nvGrpSpPr>
      <p:grpSpPr>
        <a:xfrm>
          <a:off x="0" y="0"/>
          <a:ext cx="0" cy="0"/>
          <a:chOff x="0" y="0"/>
          <a:chExt cx="0" cy="0"/>
        </a:xfrm>
      </p:grpSpPr>
      <p:sp>
        <p:nvSpPr>
          <p:cNvPr id="168" name="Google Shape;168;p11"/>
          <p:cNvSpPr txBox="1">
            <a:spLocks noGrp="1"/>
          </p:cNvSpPr>
          <p:nvPr>
            <p:ph type="title"/>
          </p:nvPr>
        </p:nvSpPr>
        <p:spPr>
          <a:xfrm>
            <a:off x="838200" y="365126"/>
            <a:ext cx="10515600" cy="82504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Flow Diagram</a:t>
            </a:r>
            <a:endParaRPr b="1" u="sng">
              <a:latin typeface="Times New Roman"/>
              <a:ea typeface="Times New Roman"/>
              <a:cs typeface="Times New Roman"/>
              <a:sym typeface="Times New Roman"/>
            </a:endParaRPr>
          </a:p>
        </p:txBody>
      </p:sp>
      <p:sp>
        <p:nvSpPr>
          <p:cNvPr id="170" name="Google Shape;170;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72" name="Google Shape;172;p11"/>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8</a:t>
            </a:fld>
            <a:endParaRPr sz="1300" b="1">
              <a:latin typeface="Times New Roman"/>
              <a:ea typeface="Times New Roman"/>
              <a:cs typeface="Times New Roman"/>
              <a:sym typeface="Times New Roman"/>
            </a:endParaRPr>
          </a:p>
        </p:txBody>
      </p:sp>
      <p:sp>
        <p:nvSpPr>
          <p:cNvPr id="6" name="Footer Placeholder 5"/>
          <p:cNvSpPr>
            <a:spLocks noGrp="1"/>
          </p:cNvSpPr>
          <p:nvPr>
            <p:ph type="ftr" idx="11"/>
          </p:nvPr>
        </p:nvSpPr>
        <p:spPr/>
        <p:txBody>
          <a:bodyPr/>
          <a:lstStyle/>
          <a:p>
            <a:r>
              <a:rPr lang="en-IN"/>
              <a:t>21CB508</a:t>
            </a:r>
          </a:p>
        </p:txBody>
      </p:sp>
      <p:pic>
        <p:nvPicPr>
          <p:cNvPr id="8" name="Picture 7">
            <a:extLst>
              <a:ext uri="{FF2B5EF4-FFF2-40B4-BE49-F238E27FC236}">
                <a16:creationId xmlns:a16="http://schemas.microsoft.com/office/drawing/2014/main" id="{2ACC2500-593A-F10F-22B3-3C1C78F69C23}"/>
              </a:ext>
            </a:extLst>
          </p:cNvPr>
          <p:cNvPicPr>
            <a:picLocks noChangeAspect="1"/>
          </p:cNvPicPr>
          <p:nvPr/>
        </p:nvPicPr>
        <p:blipFill>
          <a:blip r:embed="rId3"/>
          <a:stretch>
            <a:fillRect/>
          </a:stretch>
        </p:blipFill>
        <p:spPr>
          <a:xfrm>
            <a:off x="968283" y="1253289"/>
            <a:ext cx="3118468" cy="4178241"/>
          </a:xfrm>
          <a:prstGeom prst="rect">
            <a:avLst/>
          </a:prstGeom>
        </p:spPr>
      </p:pic>
      <p:grpSp>
        <p:nvGrpSpPr>
          <p:cNvPr id="29" name="Group 28">
            <a:extLst>
              <a:ext uri="{FF2B5EF4-FFF2-40B4-BE49-F238E27FC236}">
                <a16:creationId xmlns:a16="http://schemas.microsoft.com/office/drawing/2014/main" id="{A0B261F1-75D3-2084-5BE7-B08F1DFA3554}"/>
              </a:ext>
            </a:extLst>
          </p:cNvPr>
          <p:cNvGrpSpPr/>
          <p:nvPr/>
        </p:nvGrpSpPr>
        <p:grpSpPr>
          <a:xfrm>
            <a:off x="6249861" y="634268"/>
            <a:ext cx="4973856" cy="5150479"/>
            <a:chOff x="3234687" y="698952"/>
            <a:chExt cx="5182452" cy="5456143"/>
          </a:xfrm>
        </p:grpSpPr>
        <p:grpSp>
          <p:nvGrpSpPr>
            <p:cNvPr id="30" name="Group 29">
              <a:extLst>
                <a:ext uri="{FF2B5EF4-FFF2-40B4-BE49-F238E27FC236}">
                  <a16:creationId xmlns:a16="http://schemas.microsoft.com/office/drawing/2014/main" id="{A217D8A1-23B4-94AA-F5BC-53D769DDC22E}"/>
                </a:ext>
              </a:extLst>
            </p:cNvPr>
            <p:cNvGrpSpPr/>
            <p:nvPr/>
          </p:nvGrpSpPr>
          <p:grpSpPr>
            <a:xfrm>
              <a:off x="3877590" y="1574872"/>
              <a:ext cx="4031227" cy="3704303"/>
              <a:chOff x="4178710" y="1376516"/>
              <a:chExt cx="3824748" cy="3696929"/>
            </a:xfrm>
          </p:grpSpPr>
          <p:sp>
            <p:nvSpPr>
              <p:cNvPr id="42" name="Oval 41">
                <a:extLst>
                  <a:ext uri="{FF2B5EF4-FFF2-40B4-BE49-F238E27FC236}">
                    <a16:creationId xmlns:a16="http://schemas.microsoft.com/office/drawing/2014/main" id="{CFAC047F-A537-7CDD-5505-4A5AE7C1B944}"/>
                  </a:ext>
                </a:extLst>
              </p:cNvPr>
              <p:cNvSpPr/>
              <p:nvPr/>
            </p:nvSpPr>
            <p:spPr>
              <a:xfrm>
                <a:off x="4178710" y="1376516"/>
                <a:ext cx="3824748" cy="369692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F572DEFE-0D7D-FD40-6C9F-CC9F3AFBB25D}"/>
                  </a:ext>
                </a:extLst>
              </p:cNvPr>
              <p:cNvSpPr/>
              <p:nvPr/>
            </p:nvSpPr>
            <p:spPr>
              <a:xfrm>
                <a:off x="4487197" y="1689817"/>
                <a:ext cx="3217606" cy="3067664"/>
              </a:xfrm>
              <a:prstGeom prst="ellipse">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1" name="Oval 30">
              <a:extLst>
                <a:ext uri="{FF2B5EF4-FFF2-40B4-BE49-F238E27FC236}">
                  <a16:creationId xmlns:a16="http://schemas.microsoft.com/office/drawing/2014/main" id="{219B10DA-8B00-7209-32F7-CE5D8D503C9E}"/>
                </a:ext>
              </a:extLst>
            </p:cNvPr>
            <p:cNvSpPr/>
            <p:nvPr/>
          </p:nvSpPr>
          <p:spPr>
            <a:xfrm>
              <a:off x="3234687" y="1841578"/>
              <a:ext cx="1318906"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STEP 6</a:t>
              </a:r>
            </a:p>
            <a:p>
              <a:pPr algn="ctr"/>
              <a:r>
                <a:rPr lang="en-IN" sz="1200" dirty="0">
                  <a:solidFill>
                    <a:schemeClr val="tx1"/>
                  </a:solidFill>
                  <a:latin typeface="Times New Roman" panose="02020603050405020304" pitchFamily="18" charset="0"/>
                  <a:cs typeface="Times New Roman" panose="02020603050405020304" pitchFamily="18" charset="0"/>
                </a:rPr>
                <a:t>Testing: Ensure </a:t>
              </a:r>
              <a:r>
                <a:rPr lang="en-IN" sz="1100" dirty="0">
                  <a:solidFill>
                    <a:schemeClr val="tx1"/>
                  </a:solidFill>
                  <a:latin typeface="Times New Roman" panose="02020603050405020304" pitchFamily="18" charset="0"/>
                  <a:cs typeface="Times New Roman" panose="02020603050405020304" pitchFamily="18" charset="0"/>
                </a:rPr>
                <a:t>functionality</a:t>
              </a:r>
            </a:p>
          </p:txBody>
        </p:sp>
        <p:sp>
          <p:nvSpPr>
            <p:cNvPr id="32" name="Oval 31">
              <a:extLst>
                <a:ext uri="{FF2B5EF4-FFF2-40B4-BE49-F238E27FC236}">
                  <a16:creationId xmlns:a16="http://schemas.microsoft.com/office/drawing/2014/main" id="{32754976-9BBD-0688-46B2-7C773478E916}"/>
                </a:ext>
              </a:extLst>
            </p:cNvPr>
            <p:cNvSpPr/>
            <p:nvPr/>
          </p:nvSpPr>
          <p:spPr>
            <a:xfrm>
              <a:off x="5242649" y="698952"/>
              <a:ext cx="1318906"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latin typeface="Times New Roman" panose="02020603050405020304" pitchFamily="18" charset="0"/>
                <a:cs typeface="Times New Roman" panose="02020603050405020304" pitchFamily="18" charset="0"/>
              </a:endParaRPr>
            </a:p>
            <a:p>
              <a:pPr algn="ctr"/>
              <a:r>
                <a:rPr lang="en-IN" sz="1200" b="1" dirty="0">
                  <a:solidFill>
                    <a:schemeClr val="tx1"/>
                  </a:solidFill>
                  <a:latin typeface="Times New Roman" panose="02020603050405020304" pitchFamily="18" charset="0"/>
                  <a:cs typeface="Times New Roman" panose="02020603050405020304" pitchFamily="18" charset="0"/>
                </a:rPr>
                <a:t>STEP 1</a:t>
              </a:r>
            </a:p>
            <a:p>
              <a:pPr algn="ctr"/>
              <a:r>
                <a:rPr lang="en-IN" sz="1200" b="0" i="0" dirty="0">
                  <a:solidFill>
                    <a:srgbClr val="000000"/>
                  </a:solidFill>
                  <a:effectLst/>
                  <a:latin typeface="Times New Roman" panose="02020603050405020304" pitchFamily="18" charset="0"/>
                  <a:cs typeface="Times New Roman" panose="02020603050405020304" pitchFamily="18" charset="0"/>
                </a:rPr>
                <a:t>Dataset: Collect resumes</a:t>
              </a:r>
              <a:endParaRPr lang="en-IN" sz="1200" dirty="0">
                <a:solidFill>
                  <a:schemeClr val="tx1"/>
                </a:solidFill>
                <a:latin typeface="Times New Roman" panose="02020603050405020304" pitchFamily="18" charset="0"/>
                <a:cs typeface="Times New Roman" panose="02020603050405020304" pitchFamily="18" charset="0"/>
              </a:endParaRPr>
            </a:p>
            <a:p>
              <a:pPr algn="ct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F0508B58-8491-22F6-17B7-060F0047D0BA}"/>
                </a:ext>
              </a:extLst>
            </p:cNvPr>
            <p:cNvSpPr/>
            <p:nvPr/>
          </p:nvSpPr>
          <p:spPr>
            <a:xfrm>
              <a:off x="3335506" y="3973072"/>
              <a:ext cx="1362547"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STEP 5</a:t>
              </a:r>
            </a:p>
            <a:p>
              <a:pPr algn="ctr"/>
              <a:r>
                <a:rPr lang="en-IN" sz="1200" b="0" i="0" dirty="0">
                  <a:solidFill>
                    <a:schemeClr val="tx1"/>
                  </a:solidFill>
                  <a:effectLst/>
                  <a:latin typeface="Times New Roman" panose="02020603050405020304" pitchFamily="18" charset="0"/>
                  <a:cs typeface="Times New Roman" panose="02020603050405020304" pitchFamily="18" charset="0"/>
                </a:rPr>
                <a:t>Integration: NLP web</a:t>
              </a: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304D4D38-A226-30B0-CDC9-DB80361CB96C}"/>
                </a:ext>
              </a:extLst>
            </p:cNvPr>
            <p:cNvSpPr/>
            <p:nvPr/>
          </p:nvSpPr>
          <p:spPr>
            <a:xfrm>
              <a:off x="7062579" y="1823671"/>
              <a:ext cx="1318906"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STEP 2</a:t>
              </a:r>
              <a:endParaRPr lang="en-IN" sz="1200" dirty="0">
                <a:solidFill>
                  <a:schemeClr val="tx1"/>
                </a:solidFill>
                <a:latin typeface="Times New Roman" panose="02020603050405020304" pitchFamily="18" charset="0"/>
                <a:cs typeface="Times New Roman" panose="02020603050405020304" pitchFamily="18" charset="0"/>
              </a:endParaRPr>
            </a:p>
            <a:p>
              <a:pPr algn="ctr"/>
              <a:r>
                <a:rPr lang="en-IN" sz="1100" dirty="0">
                  <a:solidFill>
                    <a:schemeClr val="tx1"/>
                  </a:solidFill>
                  <a:latin typeface="Times New Roman" panose="02020603050405020304" pitchFamily="18" charset="0"/>
                  <a:cs typeface="Times New Roman" panose="02020603050405020304" pitchFamily="18" charset="0"/>
                </a:rPr>
                <a:t>Preprocess</a:t>
              </a:r>
              <a:r>
                <a:rPr lang="en-IN" sz="1200" dirty="0">
                  <a:solidFill>
                    <a:schemeClr val="tx1"/>
                  </a:solidFill>
                  <a:latin typeface="Times New Roman" panose="02020603050405020304" pitchFamily="18" charset="0"/>
                  <a:cs typeface="Times New Roman" panose="02020603050405020304" pitchFamily="18" charset="0"/>
                </a:rPr>
                <a:t>: Clean data</a:t>
              </a:r>
            </a:p>
          </p:txBody>
        </p:sp>
        <p:sp>
          <p:nvSpPr>
            <p:cNvPr id="35" name="Oval 34">
              <a:extLst>
                <a:ext uri="{FF2B5EF4-FFF2-40B4-BE49-F238E27FC236}">
                  <a16:creationId xmlns:a16="http://schemas.microsoft.com/office/drawing/2014/main" id="{7880BF89-489E-97CA-50E9-6F6B829F9A30}"/>
                </a:ext>
              </a:extLst>
            </p:cNvPr>
            <p:cNvSpPr/>
            <p:nvPr/>
          </p:nvSpPr>
          <p:spPr>
            <a:xfrm>
              <a:off x="7088354" y="3900411"/>
              <a:ext cx="1318906"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STEP 3</a:t>
              </a:r>
            </a:p>
            <a:p>
              <a:pPr algn="ctr"/>
              <a:r>
                <a:rPr lang="en-IN" sz="1200" dirty="0">
                  <a:solidFill>
                    <a:schemeClr val="tx1"/>
                  </a:solidFill>
                  <a:latin typeface="Times New Roman" panose="02020603050405020304" pitchFamily="18" charset="0"/>
                  <a:cs typeface="Times New Roman" panose="02020603050405020304" pitchFamily="18" charset="0"/>
                </a:rPr>
                <a:t>Model: Train ML</a:t>
              </a:r>
            </a:p>
          </p:txBody>
        </p:sp>
        <p:sp>
          <p:nvSpPr>
            <p:cNvPr id="36" name="Oval 35">
              <a:extLst>
                <a:ext uri="{FF2B5EF4-FFF2-40B4-BE49-F238E27FC236}">
                  <a16:creationId xmlns:a16="http://schemas.microsoft.com/office/drawing/2014/main" id="{7C81A37F-631D-DEE3-ADB2-DED89B703FED}"/>
                </a:ext>
              </a:extLst>
            </p:cNvPr>
            <p:cNvSpPr/>
            <p:nvPr/>
          </p:nvSpPr>
          <p:spPr>
            <a:xfrm>
              <a:off x="5233750" y="4896566"/>
              <a:ext cx="1318906" cy="1258529"/>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STEP 4</a:t>
              </a:r>
            </a:p>
            <a:p>
              <a:pPr algn="ctr"/>
              <a:r>
                <a:rPr lang="en-IN" sz="1200" b="0" i="0" dirty="0">
                  <a:solidFill>
                    <a:srgbClr val="000000"/>
                  </a:solidFill>
                  <a:effectLst/>
                  <a:latin typeface="Times New Roman" panose="02020603050405020304" pitchFamily="18" charset="0"/>
                  <a:cs typeface="Times New Roman" panose="02020603050405020304" pitchFamily="18" charset="0"/>
                </a:rPr>
                <a:t>Interface: Design web</a:t>
              </a:r>
              <a:endParaRPr lang="en-IN" sz="1200" dirty="0">
                <a:latin typeface="Times New Roman" panose="02020603050405020304" pitchFamily="18" charset="0"/>
                <a:cs typeface="Times New Roman" panose="02020603050405020304" pitchFamily="18" charset="0"/>
              </a:endParaRPr>
            </a:p>
          </p:txBody>
        </p:sp>
        <p:sp>
          <p:nvSpPr>
            <p:cNvPr id="37" name="Arrow: Right 36">
              <a:extLst>
                <a:ext uri="{FF2B5EF4-FFF2-40B4-BE49-F238E27FC236}">
                  <a16:creationId xmlns:a16="http://schemas.microsoft.com/office/drawing/2014/main" id="{DB4FED61-00DC-3525-4133-4E901504D69C}"/>
                </a:ext>
              </a:extLst>
            </p:cNvPr>
            <p:cNvSpPr/>
            <p:nvPr/>
          </p:nvSpPr>
          <p:spPr>
            <a:xfrm rot="1861697">
              <a:off x="6818907" y="1338928"/>
              <a:ext cx="538894" cy="366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Right 37">
              <a:extLst>
                <a:ext uri="{FF2B5EF4-FFF2-40B4-BE49-F238E27FC236}">
                  <a16:creationId xmlns:a16="http://schemas.microsoft.com/office/drawing/2014/main" id="{2D2F814C-BE2B-0A17-15A3-50FA66C1B57E}"/>
                </a:ext>
              </a:extLst>
            </p:cNvPr>
            <p:cNvSpPr/>
            <p:nvPr/>
          </p:nvSpPr>
          <p:spPr>
            <a:xfrm rot="15756266">
              <a:off x="3282400" y="3351589"/>
              <a:ext cx="538894" cy="366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85B7398C-0047-7968-D79A-946D4FC20B58}"/>
                </a:ext>
              </a:extLst>
            </p:cNvPr>
            <p:cNvSpPr/>
            <p:nvPr/>
          </p:nvSpPr>
          <p:spPr>
            <a:xfrm rot="12357411">
              <a:off x="4506199" y="5210941"/>
              <a:ext cx="538894" cy="366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Right 39">
              <a:extLst>
                <a:ext uri="{FF2B5EF4-FFF2-40B4-BE49-F238E27FC236}">
                  <a16:creationId xmlns:a16="http://schemas.microsoft.com/office/drawing/2014/main" id="{0E4824FA-81DD-8098-9FBE-267A6120F46C}"/>
                </a:ext>
              </a:extLst>
            </p:cNvPr>
            <p:cNvSpPr/>
            <p:nvPr/>
          </p:nvSpPr>
          <p:spPr>
            <a:xfrm rot="8902983">
              <a:off x="6744354" y="5177014"/>
              <a:ext cx="538894" cy="366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Arrow: Right 40">
              <a:extLst>
                <a:ext uri="{FF2B5EF4-FFF2-40B4-BE49-F238E27FC236}">
                  <a16:creationId xmlns:a16="http://schemas.microsoft.com/office/drawing/2014/main" id="{D2FA866C-0139-7032-6E8D-44256318C651}"/>
                </a:ext>
              </a:extLst>
            </p:cNvPr>
            <p:cNvSpPr/>
            <p:nvPr/>
          </p:nvSpPr>
          <p:spPr>
            <a:xfrm rot="5400000">
              <a:off x="7964511" y="3343599"/>
              <a:ext cx="538894" cy="366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4" name="TextBox 43">
            <a:extLst>
              <a:ext uri="{FF2B5EF4-FFF2-40B4-BE49-F238E27FC236}">
                <a16:creationId xmlns:a16="http://schemas.microsoft.com/office/drawing/2014/main" id="{2A03CDEC-FCA1-86CC-4081-67A5B7580FD4}"/>
              </a:ext>
            </a:extLst>
          </p:cNvPr>
          <p:cNvSpPr txBox="1"/>
          <p:nvPr/>
        </p:nvSpPr>
        <p:spPr>
          <a:xfrm>
            <a:off x="1268361" y="5535561"/>
            <a:ext cx="2113936" cy="307777"/>
          </a:xfrm>
          <a:prstGeom prst="rect">
            <a:avLst/>
          </a:prstGeom>
          <a:noFill/>
        </p:spPr>
        <p:txBody>
          <a:bodyPr wrap="square" rtlCol="0">
            <a:spAutoFit/>
          </a:bodyPr>
          <a:lstStyle/>
          <a:p>
            <a:r>
              <a:rPr lang="en-IN" dirty="0"/>
              <a:t>Fig.1 Overall Flow </a:t>
            </a:r>
          </a:p>
        </p:txBody>
      </p:sp>
      <p:sp>
        <p:nvSpPr>
          <p:cNvPr id="45" name="TextBox 44">
            <a:extLst>
              <a:ext uri="{FF2B5EF4-FFF2-40B4-BE49-F238E27FC236}">
                <a16:creationId xmlns:a16="http://schemas.microsoft.com/office/drawing/2014/main" id="{1D3FCDFB-8257-D3BE-7734-3EA34225E47B}"/>
              </a:ext>
            </a:extLst>
          </p:cNvPr>
          <p:cNvSpPr txBox="1"/>
          <p:nvPr/>
        </p:nvSpPr>
        <p:spPr>
          <a:xfrm>
            <a:off x="8083470" y="5903603"/>
            <a:ext cx="2718701" cy="307777"/>
          </a:xfrm>
          <a:prstGeom prst="rect">
            <a:avLst/>
          </a:prstGeom>
          <a:noFill/>
        </p:spPr>
        <p:txBody>
          <a:bodyPr wrap="square" rtlCol="0">
            <a:spAutoFit/>
          </a:bodyPr>
          <a:lstStyle/>
          <a:p>
            <a:r>
              <a:rPr lang="en-IN" dirty="0"/>
              <a:t>Fig.2 ML Model Flowchart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6"/>
        <p:cNvGrpSpPr/>
        <p:nvPr/>
      </p:nvGrpSpPr>
      <p:grpSpPr>
        <a:xfrm>
          <a:off x="0" y="0"/>
          <a:ext cx="0" cy="0"/>
          <a:chOff x="0" y="0"/>
          <a:chExt cx="0" cy="0"/>
        </a:xfrm>
      </p:grpSpPr>
      <p:sp>
        <p:nvSpPr>
          <p:cNvPr id="177" name="Google Shape;177;p2"/>
          <p:cNvSpPr txBox="1">
            <a:spLocks noGrp="1"/>
          </p:cNvSpPr>
          <p:nvPr>
            <p:ph type="title"/>
          </p:nvPr>
        </p:nvSpPr>
        <p:spPr>
          <a:xfrm>
            <a:off x="838200" y="0"/>
            <a:ext cx="10515600" cy="95567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dirty="0">
                <a:latin typeface="Times New Roman"/>
                <a:ea typeface="Times New Roman"/>
                <a:cs typeface="Times New Roman"/>
                <a:sym typeface="Times New Roman"/>
              </a:rPr>
              <a:t>Work plan</a:t>
            </a:r>
            <a:endParaRPr b="1" u="sng" dirty="0">
              <a:latin typeface="Times New Roman"/>
              <a:ea typeface="Times New Roman"/>
              <a:cs typeface="Times New Roman"/>
              <a:sym typeface="Times New Roman"/>
            </a:endParaRPr>
          </a:p>
        </p:txBody>
      </p:sp>
      <p:sp>
        <p:nvSpPr>
          <p:cNvPr id="179" name="Google Shape;179;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181" name="Google Shape;181;p2"/>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9</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grpSp>
        <p:nvGrpSpPr>
          <p:cNvPr id="2" name="Group 1">
            <a:extLst>
              <a:ext uri="{FF2B5EF4-FFF2-40B4-BE49-F238E27FC236}">
                <a16:creationId xmlns:a16="http://schemas.microsoft.com/office/drawing/2014/main" id="{2143DC47-FA66-F2CF-A49D-E5C40CBC47B5}"/>
              </a:ext>
            </a:extLst>
          </p:cNvPr>
          <p:cNvGrpSpPr/>
          <p:nvPr/>
        </p:nvGrpSpPr>
        <p:grpSpPr>
          <a:xfrm>
            <a:off x="908040" y="1821351"/>
            <a:ext cx="4696347" cy="3458571"/>
            <a:chOff x="1172067" y="2033053"/>
            <a:chExt cx="4609300" cy="3100245"/>
          </a:xfrm>
        </p:grpSpPr>
        <p:pic>
          <p:nvPicPr>
            <p:cNvPr id="18" name="Picture 17">
              <a:extLst>
                <a:ext uri="{FF2B5EF4-FFF2-40B4-BE49-F238E27FC236}">
                  <a16:creationId xmlns:a16="http://schemas.microsoft.com/office/drawing/2014/main" id="{CB8C15EA-3DF5-E53D-7AB0-2BCB5D848C86}"/>
                </a:ext>
              </a:extLst>
            </p:cNvPr>
            <p:cNvPicPr>
              <a:picLocks noChangeAspect="1"/>
            </p:cNvPicPr>
            <p:nvPr/>
          </p:nvPicPr>
          <p:blipFill>
            <a:blip r:embed="rId3"/>
            <a:stretch>
              <a:fillRect/>
            </a:stretch>
          </p:blipFill>
          <p:spPr>
            <a:xfrm>
              <a:off x="1172067" y="2033053"/>
              <a:ext cx="4609300" cy="2791893"/>
            </a:xfrm>
            <a:prstGeom prst="rect">
              <a:avLst/>
            </a:prstGeom>
          </p:spPr>
        </p:pic>
        <p:sp>
          <p:nvSpPr>
            <p:cNvPr id="20" name="TextBox 19">
              <a:extLst>
                <a:ext uri="{FF2B5EF4-FFF2-40B4-BE49-F238E27FC236}">
                  <a16:creationId xmlns:a16="http://schemas.microsoft.com/office/drawing/2014/main" id="{5C39E870-54A8-8499-0AE2-5257A9D7AB1E}"/>
                </a:ext>
              </a:extLst>
            </p:cNvPr>
            <p:cNvSpPr txBox="1"/>
            <p:nvPr/>
          </p:nvSpPr>
          <p:spPr>
            <a:xfrm>
              <a:off x="1172067" y="4825521"/>
              <a:ext cx="3765755" cy="307777"/>
            </a:xfrm>
            <a:prstGeom prst="rect">
              <a:avLst/>
            </a:prstGeom>
            <a:noFill/>
          </p:spPr>
          <p:txBody>
            <a:bodyPr wrap="square" rtlCol="0">
              <a:spAutoFit/>
            </a:bodyPr>
            <a:lstStyle/>
            <a:p>
              <a:r>
                <a:rPr lang="en-IN" i="1" dirty="0"/>
                <a:t>Fig.1 First Page</a:t>
              </a:r>
            </a:p>
          </p:txBody>
        </p:sp>
      </p:grpSp>
      <p:grpSp>
        <p:nvGrpSpPr>
          <p:cNvPr id="3" name="Group 2">
            <a:extLst>
              <a:ext uri="{FF2B5EF4-FFF2-40B4-BE49-F238E27FC236}">
                <a16:creationId xmlns:a16="http://schemas.microsoft.com/office/drawing/2014/main" id="{37A874D6-5C82-B1A3-F45F-2BD041543E8C}"/>
              </a:ext>
            </a:extLst>
          </p:cNvPr>
          <p:cNvGrpSpPr/>
          <p:nvPr/>
        </p:nvGrpSpPr>
        <p:grpSpPr>
          <a:xfrm>
            <a:off x="6459794" y="1821350"/>
            <a:ext cx="4893931" cy="3458571"/>
            <a:chOff x="6648636" y="2033053"/>
            <a:chExt cx="4609300" cy="3100245"/>
          </a:xfrm>
        </p:grpSpPr>
        <p:pic>
          <p:nvPicPr>
            <p:cNvPr id="19" name="Picture 18">
              <a:extLst>
                <a:ext uri="{FF2B5EF4-FFF2-40B4-BE49-F238E27FC236}">
                  <a16:creationId xmlns:a16="http://schemas.microsoft.com/office/drawing/2014/main" id="{B2C85D56-2832-D50C-C41B-91BCD1D03555}"/>
                </a:ext>
              </a:extLst>
            </p:cNvPr>
            <p:cNvPicPr>
              <a:picLocks noChangeAspect="1"/>
            </p:cNvPicPr>
            <p:nvPr/>
          </p:nvPicPr>
          <p:blipFill>
            <a:blip r:embed="rId4"/>
            <a:stretch>
              <a:fillRect/>
            </a:stretch>
          </p:blipFill>
          <p:spPr>
            <a:xfrm>
              <a:off x="6648636" y="2033053"/>
              <a:ext cx="4609300" cy="2791893"/>
            </a:xfrm>
            <a:prstGeom prst="rect">
              <a:avLst/>
            </a:prstGeom>
          </p:spPr>
        </p:pic>
        <p:sp>
          <p:nvSpPr>
            <p:cNvPr id="23" name="TextBox 22">
              <a:extLst>
                <a:ext uri="{FF2B5EF4-FFF2-40B4-BE49-F238E27FC236}">
                  <a16:creationId xmlns:a16="http://schemas.microsoft.com/office/drawing/2014/main" id="{99EA3120-965F-E25E-1E90-4B515081FC60}"/>
                </a:ext>
              </a:extLst>
            </p:cNvPr>
            <p:cNvSpPr txBox="1"/>
            <p:nvPr/>
          </p:nvSpPr>
          <p:spPr>
            <a:xfrm>
              <a:off x="6648636" y="4825521"/>
              <a:ext cx="3765755" cy="307777"/>
            </a:xfrm>
            <a:prstGeom prst="rect">
              <a:avLst/>
            </a:prstGeom>
            <a:noFill/>
          </p:spPr>
          <p:txBody>
            <a:bodyPr wrap="square" rtlCol="0">
              <a:spAutoFit/>
            </a:bodyPr>
            <a:lstStyle/>
            <a:p>
              <a:r>
                <a:rPr lang="en-IN" i="1" dirty="0"/>
                <a:t>Fig.2 Second Page</a:t>
              </a:r>
            </a:p>
          </p:txBody>
        </p:sp>
      </p:grpSp>
      <p:sp>
        <p:nvSpPr>
          <p:cNvPr id="24" name="TextBox 23">
            <a:extLst>
              <a:ext uri="{FF2B5EF4-FFF2-40B4-BE49-F238E27FC236}">
                <a16:creationId xmlns:a16="http://schemas.microsoft.com/office/drawing/2014/main" id="{A27E5C63-CCCF-4512-CF97-7AFB432C04F5}"/>
              </a:ext>
            </a:extLst>
          </p:cNvPr>
          <p:cNvSpPr txBox="1"/>
          <p:nvPr/>
        </p:nvSpPr>
        <p:spPr>
          <a:xfrm>
            <a:off x="4802628" y="756787"/>
            <a:ext cx="3350772" cy="307777"/>
          </a:xfrm>
          <a:prstGeom prst="rect">
            <a:avLst/>
          </a:prstGeom>
          <a:noFill/>
        </p:spPr>
        <p:txBody>
          <a:bodyPr wrap="square" rtlCol="0">
            <a:spAutoFit/>
          </a:bodyPr>
          <a:lstStyle/>
          <a:p>
            <a:r>
              <a:rPr lang="en-IN" b="1" i="1" dirty="0">
                <a:latin typeface="Calibri Light" panose="020F0302020204030204" pitchFamily="34" charset="0"/>
                <a:ea typeface="Calibri Light" panose="020F0302020204030204" pitchFamily="34" charset="0"/>
                <a:cs typeface="Calibri Light" panose="020F0302020204030204" pitchFamily="34" charset="0"/>
              </a:rPr>
              <a:t>-prototype designed using CANVA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9"/>
        <p:cNvGrpSpPr/>
        <p:nvPr/>
      </p:nvGrpSpPr>
      <p:grpSpPr>
        <a:xfrm>
          <a:off x="0" y="0"/>
          <a:ext cx="0" cy="0"/>
          <a:chOff x="0" y="0"/>
          <a:chExt cx="0" cy="0"/>
        </a:xfrm>
      </p:grpSpPr>
      <p:sp>
        <p:nvSpPr>
          <p:cNvPr id="340" name="Google Shape;340;p12"/>
          <p:cNvSpPr txBox="1">
            <a:spLocks noGrp="1"/>
          </p:cNvSpPr>
          <p:nvPr>
            <p:ph type="title"/>
          </p:nvPr>
        </p:nvSpPr>
        <p:spPr>
          <a:xfrm>
            <a:off x="838200" y="365126"/>
            <a:ext cx="10515600" cy="82504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Novelty of the Project</a:t>
            </a:r>
            <a:endParaRPr b="1" u="sng">
              <a:latin typeface="Times New Roman"/>
              <a:ea typeface="Times New Roman"/>
              <a:cs typeface="Times New Roman"/>
              <a:sym typeface="Times New Roman"/>
            </a:endParaRPr>
          </a:p>
        </p:txBody>
      </p:sp>
      <p:sp>
        <p:nvSpPr>
          <p:cNvPr id="341" name="Google Shape;341;p12"/>
          <p:cNvSpPr txBox="1">
            <a:spLocks noGrp="1"/>
          </p:cNvSpPr>
          <p:nvPr>
            <p:ph type="body" idx="1"/>
          </p:nvPr>
        </p:nvSpPr>
        <p:spPr>
          <a:xfrm>
            <a:off x="838200" y="1407886"/>
            <a:ext cx="10515600" cy="4769077"/>
          </a:xfrm>
          <a:prstGeom prst="rect">
            <a:avLst/>
          </a:prstGeom>
          <a:noFill/>
          <a:ln>
            <a:noFill/>
          </a:ln>
        </p:spPr>
        <p:txBody>
          <a:bodyPr spcFirstLastPara="1" wrap="square" lIns="91425" tIns="45700" rIns="91425" bIns="45700" anchor="t" anchorCtr="0">
            <a:normAutofit/>
          </a:bodyPr>
          <a:lstStyle/>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Comparing resume with the predicted job occupation.</a:t>
            </a:r>
          </a:p>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ML model – Naive Bayes Algorithm.</a:t>
            </a:r>
          </a:p>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Naive Bayes Algorithm – yields 80% accuracy than other algorithm.</a:t>
            </a:r>
          </a:p>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Career match option enabled.</a:t>
            </a:r>
          </a:p>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Predicted career related emails for the common users.</a:t>
            </a:r>
          </a:p>
          <a:p>
            <a:pPr marL="457200" lvl="0" indent="-393700" algn="just" rtl="0">
              <a:lnSpc>
                <a:spcPct val="115000"/>
              </a:lnSpc>
              <a:spcBef>
                <a:spcPts val="0"/>
              </a:spcBef>
              <a:spcAft>
                <a:spcPts val="0"/>
              </a:spcAft>
              <a:buSzPts val="2600"/>
              <a:buFont typeface="Times New Roman"/>
              <a:buChar char="➢"/>
            </a:pPr>
            <a:r>
              <a:rPr lang="en-IN" sz="2600" dirty="0">
                <a:latin typeface="Times New Roman"/>
                <a:ea typeface="Times New Roman"/>
                <a:cs typeface="Times New Roman"/>
                <a:sym typeface="Times New Roman"/>
              </a:rPr>
              <a:t>Suggesting predicted job related questions for the recruiters.</a:t>
            </a:r>
            <a:endParaRPr sz="2600" dirty="0">
              <a:latin typeface="Times New Roman"/>
              <a:ea typeface="Times New Roman"/>
              <a:cs typeface="Times New Roman"/>
              <a:sym typeface="Times New Roman"/>
            </a:endParaRPr>
          </a:p>
        </p:txBody>
      </p:sp>
      <p:sp>
        <p:nvSpPr>
          <p:cNvPr id="342" name="Google Shape;342;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344" name="Google Shape;344;p12"/>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10</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8"/>
        <p:cNvGrpSpPr/>
        <p:nvPr/>
      </p:nvGrpSpPr>
      <p:grpSpPr>
        <a:xfrm>
          <a:off x="0" y="0"/>
          <a:ext cx="0" cy="0"/>
          <a:chOff x="0" y="0"/>
          <a:chExt cx="0" cy="0"/>
        </a:xfrm>
      </p:grpSpPr>
      <p:sp>
        <p:nvSpPr>
          <p:cNvPr id="349" name="Google Shape;349;g10dd278f294_0_8"/>
          <p:cNvSpPr txBox="1">
            <a:spLocks noGrp="1"/>
          </p:cNvSpPr>
          <p:nvPr>
            <p:ph type="title"/>
          </p:nvPr>
        </p:nvSpPr>
        <p:spPr>
          <a:xfrm>
            <a:off x="838200" y="365126"/>
            <a:ext cx="10515600" cy="825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Conclusion</a:t>
            </a:r>
            <a:endParaRPr b="1" u="sng">
              <a:latin typeface="Times New Roman"/>
              <a:ea typeface="Times New Roman"/>
              <a:cs typeface="Times New Roman"/>
              <a:sym typeface="Times New Roman"/>
            </a:endParaRPr>
          </a:p>
        </p:txBody>
      </p:sp>
      <p:sp>
        <p:nvSpPr>
          <p:cNvPr id="350" name="Google Shape;350;g10dd278f294_0_8"/>
          <p:cNvSpPr txBox="1">
            <a:spLocks noGrp="1"/>
          </p:cNvSpPr>
          <p:nvPr>
            <p:ph type="body" idx="1"/>
          </p:nvPr>
        </p:nvSpPr>
        <p:spPr>
          <a:xfrm>
            <a:off x="838200" y="1407886"/>
            <a:ext cx="10515600" cy="4769100"/>
          </a:xfrm>
          <a:prstGeom prst="rect">
            <a:avLst/>
          </a:prstGeom>
          <a:noFill/>
          <a:ln>
            <a:noFill/>
          </a:ln>
        </p:spPr>
        <p:txBody>
          <a:bodyPr spcFirstLastPara="1" wrap="square" lIns="91425" tIns="45700" rIns="91425" bIns="45700" anchor="t" anchorCtr="0">
            <a:normAutofit/>
          </a:bodyPr>
          <a:lstStyle/>
          <a:p>
            <a:pPr marL="457200" lvl="0" indent="-393700" algn="just" rtl="0">
              <a:lnSpc>
                <a:spcPct val="115000"/>
              </a:lnSpc>
              <a:spcBef>
                <a:spcPts val="1000"/>
              </a:spcBef>
              <a:spcAft>
                <a:spcPts val="0"/>
              </a:spcAft>
              <a:buSzPts val="2600"/>
              <a:buFont typeface="Times New Roman"/>
              <a:buChar char="➢"/>
            </a:pPr>
            <a:r>
              <a:rPr lang="en-IN" sz="2600" dirty="0">
                <a:latin typeface="Times New Roman"/>
                <a:ea typeface="Times New Roman"/>
                <a:cs typeface="Times New Roman"/>
                <a:sym typeface="Times New Roman"/>
              </a:rPr>
              <a:t>Solution proposed.</a:t>
            </a:r>
          </a:p>
          <a:p>
            <a:pPr marL="457200" lvl="0" indent="-393700" algn="just" rtl="0">
              <a:lnSpc>
                <a:spcPct val="115000"/>
              </a:lnSpc>
              <a:spcBef>
                <a:spcPts val="1000"/>
              </a:spcBef>
              <a:spcAft>
                <a:spcPts val="0"/>
              </a:spcAft>
              <a:buSzPts val="2600"/>
              <a:buFont typeface="Times New Roman"/>
              <a:buChar char="➢"/>
            </a:pPr>
            <a:r>
              <a:rPr lang="en-IN" sz="2600" dirty="0">
                <a:latin typeface="Times New Roman"/>
                <a:ea typeface="Times New Roman"/>
                <a:cs typeface="Times New Roman"/>
                <a:sym typeface="Times New Roman"/>
              </a:rPr>
              <a:t>Requirements are gathered.</a:t>
            </a:r>
          </a:p>
          <a:p>
            <a:pPr marL="457200" lvl="0" indent="-393700" algn="just" rtl="0">
              <a:lnSpc>
                <a:spcPct val="115000"/>
              </a:lnSpc>
              <a:spcBef>
                <a:spcPts val="1000"/>
              </a:spcBef>
              <a:spcAft>
                <a:spcPts val="0"/>
              </a:spcAft>
              <a:buSzPts val="2600"/>
              <a:buFont typeface="Times New Roman"/>
              <a:buChar char="➢"/>
            </a:pPr>
            <a:r>
              <a:rPr lang="en-IN" sz="2600" dirty="0">
                <a:latin typeface="Times New Roman"/>
                <a:ea typeface="Times New Roman"/>
                <a:cs typeface="Times New Roman"/>
                <a:sym typeface="Times New Roman"/>
              </a:rPr>
              <a:t>Research on optimal use of ML algorithm was made.</a:t>
            </a:r>
          </a:p>
          <a:p>
            <a:pPr marL="457200" lvl="0" indent="-393700" algn="just" rtl="0">
              <a:lnSpc>
                <a:spcPct val="115000"/>
              </a:lnSpc>
              <a:spcBef>
                <a:spcPts val="1000"/>
              </a:spcBef>
              <a:spcAft>
                <a:spcPts val="0"/>
              </a:spcAft>
              <a:buSzPts val="2600"/>
              <a:buFont typeface="Times New Roman"/>
              <a:buChar char="➢"/>
            </a:pPr>
            <a:r>
              <a:rPr lang="en-IN" sz="2600" dirty="0">
                <a:latin typeface="Times New Roman"/>
                <a:ea typeface="Times New Roman"/>
                <a:cs typeface="Times New Roman"/>
                <a:sym typeface="Times New Roman"/>
              </a:rPr>
              <a:t>Based on this a prototype model was created.</a:t>
            </a:r>
          </a:p>
          <a:p>
            <a:pPr marL="457200" lvl="0" indent="-393700" algn="just" rtl="0">
              <a:lnSpc>
                <a:spcPct val="115000"/>
              </a:lnSpc>
              <a:spcBef>
                <a:spcPts val="1000"/>
              </a:spcBef>
              <a:spcAft>
                <a:spcPts val="0"/>
              </a:spcAft>
              <a:buSzPts val="2600"/>
              <a:buFont typeface="Times New Roman"/>
              <a:buChar char="➢"/>
            </a:pPr>
            <a:endParaRPr lang="en-IN" sz="2600" dirty="0">
              <a:latin typeface="Times New Roman"/>
              <a:ea typeface="Times New Roman"/>
              <a:cs typeface="Times New Roman"/>
              <a:sym typeface="Times New Roman"/>
            </a:endParaRPr>
          </a:p>
          <a:p>
            <a:pPr marL="457200" lvl="0" indent="-393700" algn="just" rtl="0">
              <a:lnSpc>
                <a:spcPct val="115000"/>
              </a:lnSpc>
              <a:spcBef>
                <a:spcPts val="1000"/>
              </a:spcBef>
              <a:spcAft>
                <a:spcPts val="0"/>
              </a:spcAft>
              <a:buSzPts val="2600"/>
              <a:buFont typeface="Times New Roman"/>
              <a:buChar char="➢"/>
            </a:pPr>
            <a:endParaRPr lang="en-IN" sz="2600" dirty="0">
              <a:latin typeface="Times New Roman"/>
              <a:ea typeface="Times New Roman"/>
              <a:cs typeface="Times New Roman"/>
              <a:sym typeface="Times New Roman"/>
            </a:endParaRPr>
          </a:p>
          <a:p>
            <a:pPr marL="457200" lvl="0" indent="-393700" algn="just" rtl="0">
              <a:lnSpc>
                <a:spcPct val="115000"/>
              </a:lnSpc>
              <a:spcBef>
                <a:spcPts val="1000"/>
              </a:spcBef>
              <a:spcAft>
                <a:spcPts val="0"/>
              </a:spcAft>
              <a:buSzPts val="2600"/>
              <a:buFont typeface="Times New Roman"/>
              <a:buChar char="➢"/>
            </a:pPr>
            <a:endParaRPr sz="2600" dirty="0">
              <a:latin typeface="Times New Roman"/>
              <a:ea typeface="Times New Roman"/>
              <a:cs typeface="Times New Roman"/>
              <a:sym typeface="Times New Roman"/>
            </a:endParaRPr>
          </a:p>
        </p:txBody>
      </p:sp>
      <p:sp>
        <p:nvSpPr>
          <p:cNvPr id="351" name="Google Shape;351;g10dd278f294_0_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300" b="1" dirty="0">
                <a:latin typeface="Times New Roman"/>
                <a:cs typeface="Times New Roman"/>
                <a:sym typeface="Times New Roman"/>
              </a:rPr>
              <a:t>01-Nov-23</a:t>
            </a:r>
            <a:endParaRPr sz="1300" b="1" dirty="0">
              <a:latin typeface="Times New Roman"/>
              <a:ea typeface="Times New Roman"/>
              <a:cs typeface="Times New Roman"/>
              <a:sym typeface="Times New Roman"/>
            </a:endParaRPr>
          </a:p>
        </p:txBody>
      </p:sp>
      <p:sp>
        <p:nvSpPr>
          <p:cNvPr id="353" name="Google Shape;353;g10dd278f294_0_8"/>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11</a:t>
            </a:fld>
            <a:endParaRPr sz="1300" b="1">
              <a:latin typeface="Times New Roman"/>
              <a:ea typeface="Times New Roman"/>
              <a:cs typeface="Times New Roman"/>
              <a:sym typeface="Times New Roman"/>
            </a:endParaRPr>
          </a:p>
        </p:txBody>
      </p:sp>
      <p:sp>
        <p:nvSpPr>
          <p:cNvPr id="7" name="Footer Placeholder 6"/>
          <p:cNvSpPr>
            <a:spLocks noGrp="1"/>
          </p:cNvSpPr>
          <p:nvPr>
            <p:ph type="ftr" idx="11"/>
          </p:nvPr>
        </p:nvSpPr>
        <p:spPr/>
        <p:txBody>
          <a:bodyPr/>
          <a:lstStyle/>
          <a:p>
            <a:r>
              <a:rPr lang="en-IN"/>
              <a:t>21CB508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6"/>
        <p:cNvGrpSpPr/>
        <p:nvPr/>
      </p:nvGrpSpPr>
      <p:grpSpPr>
        <a:xfrm>
          <a:off x="0" y="0"/>
          <a:ext cx="0" cy="0"/>
          <a:chOff x="0" y="0"/>
          <a:chExt cx="0" cy="0"/>
        </a:xfrm>
      </p:grpSpPr>
      <p:sp>
        <p:nvSpPr>
          <p:cNvPr id="367" name="Google Shape;367;p3"/>
          <p:cNvSpPr txBox="1">
            <a:spLocks noGrp="1"/>
          </p:cNvSpPr>
          <p:nvPr>
            <p:ph type="title"/>
          </p:nvPr>
        </p:nvSpPr>
        <p:spPr>
          <a:xfrm>
            <a:off x="838200" y="365125"/>
            <a:ext cx="10515600" cy="86858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Contributions to the Work</a:t>
            </a:r>
            <a:endParaRPr b="1" u="sng">
              <a:latin typeface="Times New Roman"/>
              <a:ea typeface="Times New Roman"/>
              <a:cs typeface="Times New Roman"/>
              <a:sym typeface="Times New Roman"/>
            </a:endParaRPr>
          </a:p>
        </p:txBody>
      </p:sp>
      <p:sp>
        <p:nvSpPr>
          <p:cNvPr id="368" name="Google Shape;368;p3"/>
          <p:cNvSpPr txBox="1">
            <a:spLocks noGrp="1"/>
          </p:cNvSpPr>
          <p:nvPr>
            <p:ph type="body" idx="1"/>
          </p:nvPr>
        </p:nvSpPr>
        <p:spPr>
          <a:xfrm>
            <a:off x="585750" y="1410488"/>
            <a:ext cx="11020500" cy="4769100"/>
          </a:xfrm>
          <a:prstGeom prst="rect">
            <a:avLst/>
          </a:prstGeom>
          <a:noFill/>
          <a:ln>
            <a:noFill/>
          </a:ln>
        </p:spPr>
        <p:txBody>
          <a:bodyPr spcFirstLastPara="1" wrap="square" lIns="91425" tIns="45700" rIns="91425" bIns="45700" anchor="t" anchorCtr="0">
            <a:normAutofit/>
          </a:bodyPr>
          <a:lstStyle/>
          <a:p>
            <a:pPr marL="457200" lvl="0" indent="-393700" algn="ctr" rtl="0">
              <a:lnSpc>
                <a:spcPct val="115000"/>
              </a:lnSpc>
              <a:spcBef>
                <a:spcPts val="0"/>
              </a:spcBef>
              <a:spcAft>
                <a:spcPts val="0"/>
              </a:spcAft>
              <a:buSzPts val="2600"/>
              <a:buNone/>
            </a:pPr>
            <a:endParaRPr sz="2600" dirty="0">
              <a:latin typeface="Times New Roman"/>
              <a:ea typeface="Times New Roman"/>
              <a:cs typeface="Times New Roman"/>
              <a:sym typeface="Times New Roman"/>
            </a:endParaRPr>
          </a:p>
        </p:txBody>
      </p:sp>
      <p:sp>
        <p:nvSpPr>
          <p:cNvPr id="371" name="Google Shape;371;p3"/>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12</a:t>
            </a:fld>
            <a:endParaRPr sz="1300" b="1">
              <a:latin typeface="Times New Roman"/>
              <a:ea typeface="Times New Roman"/>
              <a:cs typeface="Times New Roman"/>
              <a:sym typeface="Times New Roman"/>
            </a:endParaRPr>
          </a:p>
        </p:txBody>
      </p:sp>
      <p:sp>
        <p:nvSpPr>
          <p:cNvPr id="7" name="Date Placeholder 6"/>
          <p:cNvSpPr>
            <a:spLocks noGrp="1"/>
          </p:cNvSpPr>
          <p:nvPr>
            <p:ph type="dt" idx="10"/>
          </p:nvPr>
        </p:nvSpPr>
        <p:spPr/>
        <p:txBody>
          <a:bodyPr/>
          <a:lstStyle/>
          <a:p>
            <a:r>
              <a:rPr lang="en-US" sz="1200" b="1" dirty="0">
                <a:latin typeface="Times New Roman"/>
                <a:cs typeface="Times New Roman"/>
                <a:sym typeface="Times New Roman"/>
              </a:rPr>
              <a:t>01-Nov-23</a:t>
            </a:r>
            <a:endParaRPr lang="en-US" dirty="0"/>
          </a:p>
        </p:txBody>
      </p:sp>
      <p:sp>
        <p:nvSpPr>
          <p:cNvPr id="8" name="Footer Placeholder 7"/>
          <p:cNvSpPr>
            <a:spLocks noGrp="1"/>
          </p:cNvSpPr>
          <p:nvPr>
            <p:ph type="ftr" idx="11"/>
          </p:nvPr>
        </p:nvSpPr>
        <p:spPr/>
        <p:txBody>
          <a:bodyPr/>
          <a:lstStyle/>
          <a:p>
            <a:r>
              <a:rPr lang="en-IN"/>
              <a:t>21CB508</a:t>
            </a:r>
          </a:p>
        </p:txBody>
      </p:sp>
      <p:graphicFrame>
        <p:nvGraphicFramePr>
          <p:cNvPr id="2" name="Table 1">
            <a:extLst>
              <a:ext uri="{FF2B5EF4-FFF2-40B4-BE49-F238E27FC236}">
                <a16:creationId xmlns:a16="http://schemas.microsoft.com/office/drawing/2014/main" id="{022B547A-5D8E-8CA6-C06B-A97F7CFBE078}"/>
              </a:ext>
            </a:extLst>
          </p:cNvPr>
          <p:cNvGraphicFramePr>
            <a:graphicFrameLocks noGrp="1"/>
          </p:cNvGraphicFramePr>
          <p:nvPr>
            <p:extLst>
              <p:ext uri="{D42A27DB-BD31-4B8C-83A1-F6EECF244321}">
                <p14:modId xmlns:p14="http://schemas.microsoft.com/office/powerpoint/2010/main" val="1705475834"/>
              </p:ext>
            </p:extLst>
          </p:nvPr>
        </p:nvGraphicFramePr>
        <p:xfrm>
          <a:off x="2340429" y="2756039"/>
          <a:ext cx="7627536" cy="1591716"/>
        </p:xfrm>
        <a:graphic>
          <a:graphicData uri="http://schemas.openxmlformats.org/drawingml/2006/table">
            <a:tbl>
              <a:tblPr firstRow="1" bandRow="1">
                <a:tableStyleId>{B5449644-3E62-498B-B504-06F7A96C45BB}</a:tableStyleId>
              </a:tblPr>
              <a:tblGrid>
                <a:gridCol w="3919695">
                  <a:extLst>
                    <a:ext uri="{9D8B030D-6E8A-4147-A177-3AD203B41FA5}">
                      <a16:colId xmlns:a16="http://schemas.microsoft.com/office/drawing/2014/main" val="3467903969"/>
                    </a:ext>
                  </a:extLst>
                </a:gridCol>
                <a:gridCol w="3707841">
                  <a:extLst>
                    <a:ext uri="{9D8B030D-6E8A-4147-A177-3AD203B41FA5}">
                      <a16:colId xmlns:a16="http://schemas.microsoft.com/office/drawing/2014/main" val="3798002199"/>
                    </a:ext>
                  </a:extLst>
                </a:gridCol>
              </a:tblGrid>
              <a:tr h="539821">
                <a:tc>
                  <a:txBody>
                    <a:bodyPr/>
                    <a:lstStyle/>
                    <a:p>
                      <a:r>
                        <a:rPr lang="en-IN" sz="1800" dirty="0">
                          <a:latin typeface="Times New Roman" panose="02020603050405020304" pitchFamily="18" charset="0"/>
                          <a:cs typeface="Times New Roman" panose="02020603050405020304" pitchFamily="18" charset="0"/>
                        </a:rPr>
                        <a:t>ROSHINI R</a:t>
                      </a:r>
                    </a:p>
                  </a:txBody>
                  <a:tcPr/>
                </a:tc>
                <a:tc>
                  <a:txBody>
                    <a:bodyPr/>
                    <a:lstStyle/>
                    <a:p>
                      <a:r>
                        <a:rPr lang="en-IN" sz="1800" dirty="0">
                          <a:latin typeface="Times New Roman" panose="02020603050405020304" pitchFamily="18" charset="0"/>
                          <a:cs typeface="Times New Roman" panose="02020603050405020304" pitchFamily="18" charset="0"/>
                        </a:rPr>
                        <a:t>Prototype designing, Model building</a:t>
                      </a:r>
                    </a:p>
                  </a:txBody>
                  <a:tcPr/>
                </a:tc>
                <a:extLst>
                  <a:ext uri="{0D108BD9-81ED-4DB2-BD59-A6C34878D82A}">
                    <a16:rowId xmlns:a16="http://schemas.microsoft.com/office/drawing/2014/main" val="1809049904"/>
                  </a:ext>
                </a:extLst>
              </a:tr>
              <a:tr h="532563">
                <a:tc>
                  <a:txBody>
                    <a:bodyPr/>
                    <a:lstStyle/>
                    <a:p>
                      <a:r>
                        <a:rPr lang="en-IN" sz="1800" dirty="0">
                          <a:latin typeface="Times New Roman" panose="02020603050405020304" pitchFamily="18" charset="0"/>
                          <a:cs typeface="Times New Roman" panose="02020603050405020304" pitchFamily="18" charset="0"/>
                        </a:rPr>
                        <a:t>AKSHAYA R</a:t>
                      </a:r>
                    </a:p>
                  </a:txBody>
                  <a:tcPr/>
                </a:tc>
                <a:tc>
                  <a:txBody>
                    <a:bodyPr/>
                    <a:lstStyle/>
                    <a:p>
                      <a:r>
                        <a:rPr lang="en-IN" sz="1800" dirty="0">
                          <a:latin typeface="Times New Roman" panose="02020603050405020304" pitchFamily="18" charset="0"/>
                          <a:cs typeface="Times New Roman" panose="02020603050405020304" pitchFamily="18" charset="0"/>
                        </a:rPr>
                        <a:t>Backend, Dataset collection</a:t>
                      </a:r>
                    </a:p>
                  </a:txBody>
                  <a:tcPr/>
                </a:tc>
                <a:extLst>
                  <a:ext uri="{0D108BD9-81ED-4DB2-BD59-A6C34878D82A}">
                    <a16:rowId xmlns:a16="http://schemas.microsoft.com/office/drawing/2014/main" val="50859471"/>
                  </a:ext>
                </a:extLst>
              </a:tr>
              <a:tr h="519332">
                <a:tc>
                  <a:txBody>
                    <a:bodyPr/>
                    <a:lstStyle/>
                    <a:p>
                      <a:r>
                        <a:rPr lang="en-IN" sz="1800" dirty="0">
                          <a:latin typeface="Times New Roman" panose="02020603050405020304" pitchFamily="18" charset="0"/>
                          <a:cs typeface="Times New Roman" panose="02020603050405020304" pitchFamily="18" charset="0"/>
                        </a:rPr>
                        <a:t>LAKSITA V S</a:t>
                      </a:r>
                    </a:p>
                  </a:txBody>
                  <a:tcPr/>
                </a:tc>
                <a:tc>
                  <a:txBody>
                    <a:bodyPr/>
                    <a:lstStyle/>
                    <a:p>
                      <a:r>
                        <a:rPr lang="en-IN" sz="1800" dirty="0">
                          <a:latin typeface="Times New Roman" panose="02020603050405020304" pitchFamily="18" charset="0"/>
                          <a:cs typeface="Times New Roman" panose="02020603050405020304" pitchFamily="18" charset="0"/>
                        </a:rPr>
                        <a:t>Technical stack search</a:t>
                      </a:r>
                    </a:p>
                  </a:txBody>
                  <a:tcPr/>
                </a:tc>
                <a:extLst>
                  <a:ext uri="{0D108BD9-81ED-4DB2-BD59-A6C34878D82A}">
                    <a16:rowId xmlns:a16="http://schemas.microsoft.com/office/drawing/2014/main" val="86086192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4"/>
        <p:cNvGrpSpPr/>
        <p:nvPr/>
      </p:nvGrpSpPr>
      <p:grpSpPr>
        <a:xfrm>
          <a:off x="0" y="0"/>
          <a:ext cx="0" cy="0"/>
          <a:chOff x="0" y="0"/>
          <a:chExt cx="0" cy="0"/>
        </a:xfrm>
      </p:grpSpPr>
      <p:sp>
        <p:nvSpPr>
          <p:cNvPr id="385" name="Google Shape;385;g103337bfcf5_3_0"/>
          <p:cNvSpPr txBox="1">
            <a:spLocks noGrp="1"/>
          </p:cNvSpPr>
          <p:nvPr>
            <p:ph type="title"/>
          </p:nvPr>
        </p:nvSpPr>
        <p:spPr>
          <a:xfrm>
            <a:off x="838200" y="365201"/>
            <a:ext cx="10515600" cy="81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IN" b="1" u="sng">
                <a:latin typeface="Times New Roman"/>
                <a:ea typeface="Times New Roman"/>
                <a:cs typeface="Times New Roman"/>
                <a:sym typeface="Times New Roman"/>
              </a:rPr>
              <a:t>Reference(s)</a:t>
            </a:r>
            <a:endParaRPr b="1" u="sng">
              <a:latin typeface="Times New Roman"/>
              <a:ea typeface="Times New Roman"/>
              <a:cs typeface="Times New Roman"/>
              <a:sym typeface="Times New Roman"/>
            </a:endParaRPr>
          </a:p>
        </p:txBody>
      </p:sp>
      <p:sp>
        <p:nvSpPr>
          <p:cNvPr id="386" name="Google Shape;386;g103337bfcf5_3_0"/>
          <p:cNvSpPr txBox="1">
            <a:spLocks noGrp="1"/>
          </p:cNvSpPr>
          <p:nvPr>
            <p:ph type="body" idx="1"/>
          </p:nvPr>
        </p:nvSpPr>
        <p:spPr>
          <a:xfrm>
            <a:off x="838200" y="1388713"/>
            <a:ext cx="10515600" cy="4754700"/>
          </a:xfrm>
          <a:prstGeom prst="rect">
            <a:avLst/>
          </a:prstGeom>
          <a:noFill/>
          <a:ln>
            <a:noFill/>
          </a:ln>
        </p:spPr>
        <p:txBody>
          <a:bodyPr spcFirstLastPara="1" wrap="square" lIns="91425" tIns="45700" rIns="91425" bIns="45700" anchor="t" anchorCtr="0">
            <a:noAutofit/>
          </a:bodyPr>
          <a:lstStyle/>
          <a:p>
            <a:pPr marL="457200" lvl="0" indent="-387350" algn="just" rtl="0">
              <a:lnSpc>
                <a:spcPct val="100000"/>
              </a:lnSpc>
              <a:spcBef>
                <a:spcPts val="0"/>
              </a:spcBef>
              <a:spcAft>
                <a:spcPts val="0"/>
              </a:spcAft>
              <a:buSzPts val="2500"/>
              <a:buFont typeface="Times New Roman"/>
              <a:buChar char="●"/>
            </a:pPr>
            <a:r>
              <a:rPr lang="en-US" sz="2000" dirty="0" err="1">
                <a:latin typeface="Times New Roman" panose="02020603050405020304" pitchFamily="18" charset="0"/>
                <a:cs typeface="Times New Roman" panose="02020603050405020304" pitchFamily="18" charset="0"/>
              </a:rPr>
              <a:t>Rutuja</a:t>
            </a:r>
            <a:r>
              <a:rPr lang="en-US" sz="2000" dirty="0">
                <a:latin typeface="Times New Roman" panose="02020603050405020304" pitchFamily="18" charset="0"/>
                <a:cs typeface="Times New Roman" panose="02020603050405020304" pitchFamily="18" charset="0"/>
              </a:rPr>
              <a:t> Patil et al., “Resume Evaluation System Based on AI,” International Research Journal of Engineering and Technology, vol. 7, no. 7, pp. 2782-2784, 2020. [Publisher Link]</a:t>
            </a:r>
          </a:p>
          <a:p>
            <a:pPr marL="69850" lvl="0" indent="0" algn="just" rtl="0">
              <a:lnSpc>
                <a:spcPct val="100000"/>
              </a:lnSpc>
              <a:spcBef>
                <a:spcPts val="0"/>
              </a:spcBef>
              <a:spcAft>
                <a:spcPts val="0"/>
              </a:spcAft>
              <a:buSzPts val="2500"/>
              <a:buNone/>
            </a:pPr>
            <a:endParaRPr lang="en-US" sz="2000" dirty="0">
              <a:latin typeface="Times New Roman" panose="02020603050405020304" pitchFamily="18" charset="0"/>
              <a:cs typeface="Times New Roman" panose="02020603050405020304" pitchFamily="18" charset="0"/>
            </a:endParaRPr>
          </a:p>
          <a:p>
            <a:pPr marL="457200" lvl="0" indent="-387350" algn="just" rtl="0">
              <a:lnSpc>
                <a:spcPct val="100000"/>
              </a:lnSpc>
              <a:spcBef>
                <a:spcPts val="0"/>
              </a:spcBef>
              <a:spcAft>
                <a:spcPts val="0"/>
              </a:spcAft>
              <a:buSzPts val="2500"/>
              <a:buFont typeface="Times New Roman"/>
              <a:buChar char="●"/>
            </a:pPr>
            <a:r>
              <a:rPr lang="en-US" sz="2000" dirty="0">
                <a:latin typeface="Times New Roman" panose="02020603050405020304" pitchFamily="18" charset="0"/>
                <a:cs typeface="Times New Roman" panose="02020603050405020304" pitchFamily="18" charset="0"/>
              </a:rPr>
              <a:t>V. V. Dixit et al., “Resume Sorting using Artificial Intelligence,” International Journal of Research in Engineering, Science and Management, vol. 2, no. 4, pp. 423-425, 2019. [Google Scholar] [Publisher Link]</a:t>
            </a:r>
          </a:p>
          <a:p>
            <a:pPr marL="69850" lvl="0" indent="0" algn="just" rtl="0">
              <a:lnSpc>
                <a:spcPct val="100000"/>
              </a:lnSpc>
              <a:spcBef>
                <a:spcPts val="0"/>
              </a:spcBef>
              <a:spcAft>
                <a:spcPts val="0"/>
              </a:spcAft>
              <a:buSzPts val="2500"/>
              <a:buNone/>
            </a:pPr>
            <a:endParaRPr lang="en-US" sz="2000" dirty="0">
              <a:latin typeface="Times New Roman" panose="02020603050405020304" pitchFamily="18" charset="0"/>
              <a:cs typeface="Times New Roman" panose="02020603050405020304" pitchFamily="18" charset="0"/>
            </a:endParaRPr>
          </a:p>
          <a:p>
            <a:pPr marL="457200" lvl="0" indent="-387350" algn="just" rtl="0">
              <a:lnSpc>
                <a:spcPct val="100000"/>
              </a:lnSpc>
              <a:spcBef>
                <a:spcPts val="0"/>
              </a:spcBef>
              <a:spcAft>
                <a:spcPts val="0"/>
              </a:spcAft>
              <a:buSzPts val="2500"/>
              <a:buFont typeface="Times New Roman"/>
              <a:buChar char="●"/>
            </a:pPr>
            <a:r>
              <a:rPr lang="en-IN" sz="2000" dirty="0">
                <a:latin typeface="Times New Roman" panose="02020603050405020304" pitchFamily="18" charset="0"/>
                <a:cs typeface="Times New Roman" panose="02020603050405020304" pitchFamily="18" charset="0"/>
              </a:rPr>
              <a:t>Pradeep Kumar Roy, </a:t>
            </a:r>
            <a:r>
              <a:rPr lang="en-IN" sz="2000" dirty="0" err="1">
                <a:latin typeface="Times New Roman" panose="02020603050405020304" pitchFamily="18" charset="0"/>
                <a:cs typeface="Times New Roman" panose="02020603050405020304" pitchFamily="18" charset="0"/>
              </a:rPr>
              <a:t>Sarabjeet</a:t>
            </a:r>
            <a:r>
              <a:rPr lang="en-IN" sz="2000" dirty="0">
                <a:latin typeface="Times New Roman" panose="02020603050405020304" pitchFamily="18" charset="0"/>
                <a:cs typeface="Times New Roman" panose="02020603050405020304" pitchFamily="18" charset="0"/>
              </a:rPr>
              <a:t> Singh Chowdhary, and Rocky Bhatia, “A Machine Learning Approach for Automation of Resume Recommendation System,” Procedia Computer Science, vol. 167, pp. 2318-2327, 2020. [</a:t>
            </a:r>
            <a:r>
              <a:rPr lang="en-IN" sz="2000" dirty="0" err="1">
                <a:latin typeface="Times New Roman" panose="02020603050405020304" pitchFamily="18" charset="0"/>
                <a:cs typeface="Times New Roman" panose="02020603050405020304" pitchFamily="18" charset="0"/>
              </a:rPr>
              <a:t>CrossRef</a:t>
            </a:r>
            <a:r>
              <a:rPr lang="en-IN" sz="2000" dirty="0">
                <a:latin typeface="Times New Roman" panose="02020603050405020304" pitchFamily="18" charset="0"/>
                <a:cs typeface="Times New Roman" panose="02020603050405020304" pitchFamily="18" charset="0"/>
              </a:rPr>
              <a:t>] [Google Scholar] [Publisher Link] </a:t>
            </a:r>
          </a:p>
          <a:p>
            <a:pPr marL="69850" lvl="0" indent="0" algn="just" rtl="0">
              <a:lnSpc>
                <a:spcPct val="100000"/>
              </a:lnSpc>
              <a:spcBef>
                <a:spcPts val="0"/>
              </a:spcBef>
              <a:spcAft>
                <a:spcPts val="0"/>
              </a:spcAft>
              <a:buSzPts val="2500"/>
              <a:buNone/>
            </a:pPr>
            <a:endParaRPr lang="en-IN" sz="2000" dirty="0">
              <a:latin typeface="Times New Roman" panose="02020603050405020304" pitchFamily="18" charset="0"/>
              <a:cs typeface="Times New Roman" panose="02020603050405020304" pitchFamily="18" charset="0"/>
            </a:endParaRPr>
          </a:p>
          <a:p>
            <a:pPr marL="457200" lvl="0" indent="-387350" algn="just" rtl="0">
              <a:lnSpc>
                <a:spcPct val="100000"/>
              </a:lnSpc>
              <a:spcBef>
                <a:spcPts val="0"/>
              </a:spcBef>
              <a:spcAft>
                <a:spcPts val="0"/>
              </a:spcAft>
              <a:buSzPts val="2500"/>
              <a:buFont typeface="Times New Roman"/>
              <a:buChar char="●"/>
            </a:pPr>
            <a:r>
              <a:rPr lang="en-IN" sz="2000" dirty="0">
                <a:latin typeface="Times New Roman" panose="02020603050405020304" pitchFamily="18" charset="0"/>
                <a:cs typeface="Times New Roman" panose="02020603050405020304" pitchFamily="18" charset="0"/>
              </a:rPr>
              <a:t>G. </a:t>
            </a:r>
            <a:r>
              <a:rPr lang="en-IN" sz="2000" dirty="0" err="1">
                <a:latin typeface="Times New Roman" panose="02020603050405020304" pitchFamily="18" charset="0"/>
                <a:cs typeface="Times New Roman" panose="02020603050405020304" pitchFamily="18" charset="0"/>
              </a:rPr>
              <a:t>Vadivu</a:t>
            </a:r>
            <a:r>
              <a:rPr lang="en-IN" sz="2000" dirty="0">
                <a:latin typeface="Times New Roman" panose="02020603050405020304" pitchFamily="18" charset="0"/>
                <a:cs typeface="Times New Roman" panose="02020603050405020304" pitchFamily="18" charset="0"/>
              </a:rPr>
              <a:t>, and K. </a:t>
            </a:r>
            <a:r>
              <a:rPr lang="en-IN" sz="2000" dirty="0" err="1">
                <a:latin typeface="Times New Roman" panose="02020603050405020304" pitchFamily="18" charset="0"/>
                <a:cs typeface="Times New Roman" panose="02020603050405020304" pitchFamily="18" charset="0"/>
              </a:rPr>
              <a:t>Sornalakshmi</a:t>
            </a:r>
            <a:r>
              <a:rPr lang="en-IN" sz="2000" dirty="0">
                <a:latin typeface="Times New Roman" panose="02020603050405020304" pitchFamily="18" charset="0"/>
                <a:cs typeface="Times New Roman" panose="02020603050405020304" pitchFamily="18" charset="0"/>
              </a:rPr>
              <a:t>, “Applying Machine Learning Algorithms for Student Employability Prediction Using R,” International Journal of Pharmaceutical Sciences Review and Research, vol. 43, no. 1, pp. 38-41, 2017. [Google Scholar] [Publisher Link]</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389" name="Google Shape;389;g103337bfcf5_3_0"/>
          <p:cNvSpPr txBox="1">
            <a:spLocks noGrp="1"/>
          </p:cNvSpPr>
          <p:nvPr>
            <p:ph type="sldNum" idx="12"/>
          </p:nvPr>
        </p:nvSpPr>
        <p:spPr>
          <a:xfrm>
            <a:off x="10601325" y="6356350"/>
            <a:ext cx="752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300"/>
              <a:buNone/>
            </a:pPr>
            <a:fld id="{00000000-1234-1234-1234-123412341234}" type="slidenum">
              <a:rPr lang="en-IN" sz="1300" b="1">
                <a:latin typeface="Times New Roman"/>
                <a:ea typeface="Times New Roman"/>
                <a:cs typeface="Times New Roman"/>
                <a:sym typeface="Times New Roman"/>
              </a:rPr>
              <a:pPr marL="0" lvl="0" indent="0" algn="r" rtl="0">
                <a:lnSpc>
                  <a:spcPct val="100000"/>
                </a:lnSpc>
                <a:spcBef>
                  <a:spcPts val="0"/>
                </a:spcBef>
                <a:spcAft>
                  <a:spcPts val="0"/>
                </a:spcAft>
                <a:buSzPts val="1300"/>
                <a:buNone/>
              </a:pPr>
              <a:t>13</a:t>
            </a:fld>
            <a:endParaRPr sz="1300" b="1">
              <a:latin typeface="Times New Roman"/>
              <a:ea typeface="Times New Roman"/>
              <a:cs typeface="Times New Roman"/>
              <a:sym typeface="Times New Roman"/>
            </a:endParaRPr>
          </a:p>
        </p:txBody>
      </p:sp>
      <p:sp>
        <p:nvSpPr>
          <p:cNvPr id="7" name="Date Placeholder 6"/>
          <p:cNvSpPr>
            <a:spLocks noGrp="1"/>
          </p:cNvSpPr>
          <p:nvPr>
            <p:ph type="dt" idx="10"/>
          </p:nvPr>
        </p:nvSpPr>
        <p:spPr/>
        <p:txBody>
          <a:bodyPr/>
          <a:lstStyle/>
          <a:p>
            <a:r>
              <a:rPr lang="en-US" sz="1200" b="1" dirty="0">
                <a:latin typeface="Times New Roman"/>
                <a:cs typeface="Times New Roman"/>
                <a:sym typeface="Times New Roman"/>
              </a:rPr>
              <a:t>01-Nov-23</a:t>
            </a:r>
            <a:endParaRPr lang="en-US" dirty="0"/>
          </a:p>
        </p:txBody>
      </p:sp>
      <p:sp>
        <p:nvSpPr>
          <p:cNvPr id="8" name="Footer Placeholder 7"/>
          <p:cNvSpPr>
            <a:spLocks noGrp="1"/>
          </p:cNvSpPr>
          <p:nvPr>
            <p:ph type="ftr" idx="11"/>
          </p:nvPr>
        </p:nvSpPr>
        <p:spPr/>
        <p:txBody>
          <a:bodyPr/>
          <a:lstStyle/>
          <a:p>
            <a:r>
              <a:rPr lang="en-IN"/>
              <a:t>21CB508</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915</Words>
  <Application>Microsoft Office PowerPoint</Application>
  <PresentationFormat>Widescreen</PresentationFormat>
  <Paragraphs>144</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PowerPoint Presentation</vt:lpstr>
      <vt:lpstr>Objective</vt:lpstr>
      <vt:lpstr>Problem Description</vt:lpstr>
      <vt:lpstr>Literature Survey</vt:lpstr>
      <vt:lpstr>Scope of the Project</vt:lpstr>
      <vt:lpstr>Proposed Methodology</vt:lpstr>
      <vt:lpstr>REQUIREMENTS</vt:lpstr>
      <vt:lpstr>Flow Diagram</vt:lpstr>
      <vt:lpstr>Work plan</vt:lpstr>
      <vt:lpstr>Novelty of the Project</vt:lpstr>
      <vt:lpstr>Conclusion</vt:lpstr>
      <vt:lpstr>Contributions to the Work</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Roshini Raju</cp:lastModifiedBy>
  <cp:revision>18</cp:revision>
  <dcterms:created xsi:type="dcterms:W3CDTF">2021-10-21T05:33:47Z</dcterms:created>
  <dcterms:modified xsi:type="dcterms:W3CDTF">2023-12-04T07:43:44Z</dcterms:modified>
</cp:coreProperties>
</file>